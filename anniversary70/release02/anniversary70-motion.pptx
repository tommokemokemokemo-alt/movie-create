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0秒／表示4秒。字幕は編集可能。背景は編集用の代表フレーム画像。写真の独立した移動・重なり・カメラ演出はMP4に含まれます。音声はsoundtrack.mp3を1枚目から全体再生。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4秒／表示4秒。字幕は編集可能。背景は編集用の代表フレーム画像。写真の独立した移動・重なり・カメラ演出はMP4に含まれます。音声はsoundtrack.mp3を1枚目から全体再生。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8秒／表示4秒。字幕は編集可能。背景は編集用の代表フレーム画像。写真の独立した移動・重なり・カメラ演出はMP4に含まれます。音声はsoundtrack.mp3を1枚目から全体再生。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12秒／表示3秒。字幕は編集可能。背景は編集用の代表フレーム画像。写真の独立した移動・重なり・カメラ演出はMP4に含まれます。音声はsoundtrack.mp3を1枚目から全体再生。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15秒／表示4秒。字幕は編集可能。背景は編集用の代表フレーム画像。写真の独立した移動・重なり・カメラ演出はMP4に含まれます。音声はsoundtrack.mp3を1枚目から全体再生。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19秒／表示4秒。字幕は編集可能。背景は編集用の代表フレーム画像。写真の独立した移動・重なり・カメラ演出はMP4に含まれます。音声はsoundtrack.mp3を1枚目から全体再生。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23秒／表示4秒。字幕は編集可能。背景は編集用の代表フレーム画像。写真の独立した移動・重なり・カメラ演出はMP4に含まれます。音声はsoundtrack.mp3を1枚目から全体再生。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27秒／表示3秒。字幕は編集可能。背景は編集用の代表フレーム画像。写真の独立した移動・重なり・カメラ演出はMP4に含まれます。音声はsoundtrack.mp3を1枚目から全体再生。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30秒／表示4秒。字幕は編集可能。背景は編集用の代表フレーム画像。写真の独立した移動・重なり・カメラ演出はMP4に含まれます。音声はsoundtrack.mp3を1枚目から全体再生。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34秒／表示4秒。字幕は編集可能。背景は編集用の代表フレーム画像。写真の独立した移動・重なり・カメラ演出はMP4に含まれます。音声はsoundtrack.mp3を1枚目から全体再生。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38秒／表示4秒。字幕は編集可能。背景は編集用の代表フレーム画像。写真の独立した移動・重なり・カメラ演出はMP4に含まれます。音声はsoundtrack.mp3を1枚目から全体再生。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42秒／表示3秒。字幕は編集可能。背景は編集用の代表フレーム画像。写真の独立した移動・重なり・カメラ演出はMP4に含まれます。音声はsoundtrack.mp3を1枚目から全体再生。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45秒／表示4秒。字幕は編集可能。背景は編集用の代表フレーム画像。写真の独立した移動・重なり・カメラ演出はMP4に含まれます。音声はsoundtrack.mp3を1枚目から全体再生。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49秒／表示4秒。字幕は編集可能。背景は編集用の代表フレーム画像。写真の独立した移動・重なり・カメラ演出はMP4に含まれます。音声はsoundtrack.mp3を1枚目から全体再生。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53秒／表示4秒。字幕は編集可能。背景は編集用の代表フレーム画像。写真の独立した移動・重なり・カメラ演出はMP4に含まれます。音声はsoundtrack.mp3を1枚目から全体再生。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57秒／表示3秒。字幕は編集可能。背景は編集用の代表フレーム画像。写真の独立した移動・重なり・カメラ演出はMP4に含まれます。音声はsoundtrack.mp3を1枚目から全体再生。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60秒／表示4秒。字幕は編集可能。背景は編集用の代表フレーム画像。写真の独立した移動・重なり・カメラ演出はMP4に含まれます。音声はsoundtrack.mp3を1枚目から全体再生。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64秒／表示4秒。字幕は編集可能。背景は編集用の代表フレーム画像。写真の独立した移動・重なり・カメラ演出はMP4に含まれます。音声はsoundtrack.mp3を1枚目から全体再生。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68秒／表示4秒。字幕は編集可能。背景は編集用の代表フレーム画像。写真の独立した移動・重なり・カメラ演出はMP4に含まれます。音声はsoundtrack.mp3を1枚目から全体再生。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72秒／表示3秒。字幕は編集可能。背景は編集用の代表フレーム画像。写真の独立した移動・重なり・カメラ演出はMP4に含まれます。音声はsoundtrack.mp3を1枚目から全体再生。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75秒／表示4秒。字幕は編集可能。背景は編集用の代表フレーム画像。写真の独立した移動・重なり・カメラ演出はMP4に含まれます。音声はsoundtrack.mp3を1枚目から全体再生。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79秒／表示4秒。字幕は編集可能。背景は編集用の代表フレーム画像。写真の独立した移動・重なり・カメラ演出はMP4に含まれます。音声はsoundtrack.mp3を1枚目から全体再生。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83秒／表示4秒。字幕は編集可能。背景は編集用の代表フレーム画像。写真の独立した移動・重なり・カメラ演出はMP4に含まれます。音声はsoundtrack.mp3を1枚目から全体再生。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87秒／表示3秒。字幕は編集可能。背景は編集用の代表フレーム画像。写真の独立した移動・重なり・カメラ演出はMP4に含まれます。音声はsoundtrack.mp3を1枚目から全体再生。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90秒／表示4秒。字幕は編集可能。背景は編集用の代表フレーム画像。写真の独立した移動・重なり・カメラ演出はMP4に含まれます。音声はsoundtrack.mp3を1枚目から全体再生。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94秒／表示4秒。字幕は編集可能。背景は編集用の代表フレーム画像。写真の独立した移動・重なり・カメラ演出はMP4に含まれます。音声はsoundtrack.mp3を1枚目から全体再生。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98秒／表示4秒。字幕は編集可能。背景は編集用の代表フレーム画像。写真の独立した移動・重なり・カメラ演出はMP4に含まれます。音声はsoundtrack.mp3を1枚目から全体再生。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102秒／表示3秒。字幕は編集可能。背景は編集用の代表フレーム画像。写真の独立した移動・重なり・カメラ演出はMP4に含まれます。音声はsoundtrack.mp3を1枚目から全体再生。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105秒／表示4秒。字幕は編集可能。背景は編集用の代表フレーム画像。写真の独立した移動・重なり・カメラ演出はMP4に含まれます。音声はsoundtrack.mp3を1枚目から全体再生。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109秒／表示4秒。字幕は編集可能。背景は編集用の代表フレーム画像。写真の独立した移動・重なり・カメラ演出はMP4に含まれます。音声はsoundtrack.mp3を1枚目から全体再生。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113秒／表示4秒。字幕は編集可能。背景は編集用の代表フレーム画像。写真の独立した移動・重なり・カメラ演出はMP4に含まれます。音声はsoundtrack.mp3を1枚目から全体再生。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117秒／表示3秒。字幕は編集可能。背景は編集用の代表フレーム画像。写真の独立した移動・重なり・カメラ演出はMP4に含まれます。音声はsoundtrack.mp3を1枚目から全体再生。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120秒／表示4秒。字幕は編集可能。背景は編集用の代表フレーム画像。写真の独立した移動・重なり・カメラ演出はMP4に含まれます。音声はsoundtrack.mp3を1枚目から全体再生。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124秒／表示4秒。字幕は編集可能。背景は編集用の代表フレーム画像。写真の独立した移動・重なり・カメラ演出はMP4に含まれます。音声はsoundtrack.mp3を1枚目から全体再生。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128秒／表示4秒。字幕は編集可能。背景は編集用の代表フレーム画像。写真の独立した移動・重なり・カメラ演出はMP4に含まれます。音声はsoundtrack.mp3を1枚目から全体再生。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132秒／表示3秒。字幕は編集可能。背景は編集用の代表フレーム画像。写真の独立した移動・重なり・カメラ演出はMP4に含まれます。音声はsoundtrack.mp3を1枚目から全体再生。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135秒／表示4秒。字幕は編集可能。背景は編集用の代表フレーム画像。写真の独立した移動・重なり・カメラ演出はMP4に含まれます。音声はsoundtrack.mp3を1枚目から全体再生。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139秒／表示4秒。字幕は編集可能。背景は編集用の代表フレーム画像。写真の独立した移動・重なり・カメラ演出はMP4に含まれます。音声はsoundtrack.mp3を1枚目から全体再生。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143秒／表示4秒。字幕は編集可能。背景は編集用の代表フレーム画像。写真の独立した移動・重なり・カメラ演出はMP4に含まれます。音声はsoundtrack.mp3を1枚目から全体再生。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147秒／表示3秒。字幕は編集可能。背景は編集用の代表フレーム画像。写真の独立した移動・重なり・カメラ演出はMP4に含まれます。音声はsoundtrack.mp3を1枚目から全体再生。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150秒／表示4秒。字幕は編集可能。背景は編集用の代表フレーム画像。写真の独立した移動・重なり・カメラ演出はMP4に含まれます。音声はsoundtrack.mp3を1枚目から全体再生。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154秒／表示4秒。字幕は編集可能。背景は編集用の代表フレーム画像。写真の独立した移動・重なり・カメラ演出はMP4に含まれます。音声はsoundtrack.mp3を1枚目から全体再生。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158秒／表示4秒。字幕は編集可能。背景は編集用の代表フレーム画像。写真の独立した移動・重なり・カメラ演出はMP4に含まれます。音声はsoundtrack.mp3を1枚目から全体再生。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162秒／表示3秒。字幕は編集可能。背景は編集用の代表フレーム画像。写真の独立した移動・重なり・カメラ演出はMP4に含まれます。音声はsoundtrack.mp3を1枚目から全体再生。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165秒／表示4秒。字幕は編集可能。背景は編集用の代表フレーム画像。写真の独立した移動・重なり・カメラ演出はMP4に含まれます。音声はsoundtrack.mp3を1枚目から全体再生。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169秒／表示4秒。字幕は編集可能。背景は編集用の代表フレーム画像。写真の独立した移動・重なり・カメラ演出はMP4に含まれます。音声はsoundtrack.mp3を1枚目から全体再生。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173秒／表示4秒。字幕は編集可能。背景は編集用の代表フレーム画像。写真の独立した移動・重なり・カメラ演出はMP4に含まれます。音声はsoundtrack.mp3を1枚目から全体再生。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177秒／表示3秒。字幕は編集可能。背景は編集用の代表フレーム画像。写真の独立した移動・重なり・カメラ演出はMP4に含まれます。音声はsoundtrack.mp3を1枚目から全体再生。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180秒／表示4秒。字幕は編集可能。背景は編集用の代表フレーム画像。写真の独立した移動・重なり・カメラ演出はMP4に含まれます。音声はsoundtrack.mp3を1枚目から全体再生。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184秒／表示4秒。字幕は編集可能。背景は編集用の代表フレーム画像。写真の独立した移動・重なり・カメラ演出はMP4に含まれます。音声はsoundtrack.mp3を1枚目から全体再生。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188秒／表示4秒。字幕は編集可能。背景は編集用の代表フレーム画像。写真の独立した移動・重なり・カメラ演出はMP4に含まれます。音声はsoundtrack.mp3を1枚目から全体再生。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192秒／表示3秒。字幕は編集可能。背景は編集用の代表フレーム画像。写真の独立した移動・重なり・カメラ演出はMP4に含まれます。音声はsoundtrack.mp3を1枚目から全体再生。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195秒／表示4秒。字幕は編集可能。背景は編集用の代表フレーム画像。写真の独立した移動・重なり・カメラ演出はMP4に含まれます。音声はsoundtrack.mp3を1枚目から全体再生。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199秒／表示4秒。字幕は編集可能。背景は編集用の代表フレーム画像。写真の独立した移動・重なり・カメラ演出はMP4に含まれます。音声はsoundtrack.mp3を1枚目から全体再生。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203秒／表示4秒。字幕は編集可能。背景は編集用の代表フレーム画像。写真の独立した移動・重なり・カメラ演出はMP4に含まれます。音声はsoundtrack.mp3を1枚目から全体再生。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207秒／表示3秒。字幕は編集可能。背景は編集用の代表フレーム画像。写真の独立した移動・重なり・カメラ演出はMP4に含まれます。音声はsoundtrack.mp3を1枚目から全体再生。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210秒／表示4秒。字幕は編集可能。背景は編集用の代表フレーム画像。写真の独立した移動・重なり・カメラ演出はMP4に含まれます。音声はsoundtrack.mp3を1枚目から全体再生。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214秒／表示4秒。字幕は編集可能。背景は編集用の代表フレーム画像。写真の独立した移動・重なり・カメラ演出はMP4に含まれます。音声はsoundtrack.mp3を1枚目から全体再生。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218秒／表示4秒。字幕は編集可能。背景は編集用の代表フレーム画像。写真の独立した移動・重なり・カメラ演出はMP4に含まれます。音声はsoundtrack.mp3を1枚目から全体再生。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222秒／表示3秒。字幕は編集可能。背景は編集用の代表フレーム画像。写真の独立した移動・重なり・カメラ演出はMP4に含まれます。音声はsoundtrack.mp3を1枚目から全体再生。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225秒／表示4秒。字幕は編集可能。背景は編集用の代表フレーム画像。写真の独立した移動・重なり・カメラ演出はMP4に含まれます。音声はsoundtrack.mp3を1枚目から全体再生。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229秒／表示4秒。字幕は編集可能。背景は編集用の代表フレーム画像。写真の独立した移動・重なり・カメラ演出はMP4に含まれます。音声はsoundtrack.mp3を1枚目から全体再生。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233秒／表示4秒。字幕は編集可能。背景は編集用の代表フレーム画像。写真の独立した移動・重なり・カメラ演出はMP4に含まれます。音声はsoundtrack.mp3を1枚目から全体再生。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237秒／表示3秒。字幕は編集可能。背景は編集用の代表フレーム画像。写真の独立した移動・重なり・カメラ演出はMP4に含まれます。音声はsoundtrack.mp3を1枚目から全体再生。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240秒／表示4秒。字幕は編集可能。背景は編集用の代表フレーム画像。写真の独立した移動・重なり・カメラ演出はMP4に含まれます。音声はsoundtrack.mp3を1枚目から全体再生。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244秒／表示4秒。字幕は編集可能。背景は編集用の代表フレーム画像。写真の独立した移動・重なり・カメラ演出はMP4に含まれます。音声はsoundtrack.mp3を1枚目から全体再生。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248秒／表示4秒。字幕は編集可能。背景は編集用の代表フレーム画像。写真の独立した移動・重なり・カメラ演出はMP4に含まれます。音声はsoundtrack.mp3を1枚目から全体再生。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252秒／表示3秒。字幕は編集可能。背景は編集用の代表フレーム画像。写真の独立した移動・重なり・カメラ演出はMP4に含まれます。音声はsoundtrack.mp3を1枚目から全体再生。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255秒／表示4秒。字幕は編集可能。背景は編集用の代表フレーム画像。写真の独立した移動・重なり・カメラ演出はMP4に含まれます。音声はsoundtrack.mp3を1枚目から全体再生。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259秒／表示4秒。字幕は編集可能。背景は編集用の代表フレーム画像。写真の独立した移動・重なり・カメラ演出はMP4に含まれます。音声はsoundtrack.mp3を1枚目から全体再生。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263秒／表示4秒。字幕は編集可能。背景は編集用の代表フレーム画像。写真の独立した移動・重なり・カメラ演出はMP4に含まれます。音声はsoundtrack.mp3を1枚目から全体再生。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267秒／表示3秒。字幕は編集可能。背景は編集用の代表フレーム画像。写真の独立した移動・重なり・カメラ演出はMP4に含まれます。音声はsoundtrack.mp3を1枚目から全体再生。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270秒／表示4秒。字幕は編集可能。背景は編集用の代表フレーム画像。写真の独立した移動・重なり・カメラ演出はMP4に含まれます。音声はsoundtrack.mp3を1枚目から全体再生。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274秒／表示4秒。字幕は編集可能。背景は編集用の代表フレーム画像。写真の独立した移動・重なり・カメラ演出はMP4に含まれます。音声はsoundtrack.mp3を1枚目から全体再生。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278秒／表示4秒。字幕は編集可能。背景は編集用の代表フレーム画像。写真の独立した移動・重なり・カメラ演出はMP4に含まれます。音声はsoundtrack.mp3を1枚目から全体再生。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282秒／表示3秒。字幕は編集可能。背景は編集用の代表フレーム画像。写真の独立した移動・重なり・カメラ演出はMP4に含まれます。音声はsoundtrack.mp3を1枚目から全体再生。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285秒／表示4秒。字幕は編集可能。背景は編集用の代表フレーム画像。写真の独立した移動・重なり・カメラ演出はMP4に含まれます。音声はsoundtrack.mp3を1枚目から全体再生。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289秒／表示4秒。字幕は編集可能。背景は編集用の代表フレーム画像。写真の独立した移動・重なり・カメラ演出はMP4に含まれます。音声はsoundtrack.mp3を1枚目から全体再生。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293秒／表示4秒。字幕は編集可能。背景は編集用の代表フレーム画像。写真の独立した移動・重なり・カメラ演出はMP4に含まれます。音声はsoundtrack.mp3を1枚目から全体再生。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297秒／表示3秒。字幕は編集可能。背景は編集用の代表フレーム画像。写真の独立した移動・重なり・カメラ演出はMP4に含まれます。音声はsoundtrack.mp3を1枚目から全体再生。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300秒／表示4秒。字幕は編集可能。背景は編集用の代表フレーム画像。写真の独立した移動・重なり・カメラ演出はMP4に含まれます。音声はsoundtrack.mp3を1枚目から全体再生。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304秒／表示4秒。字幕は編集可能。背景は編集用の代表フレーム画像。写真の独立した移動・重なり・カメラ演出はMP4に含まれます。音声はsoundtrack.mp3を1枚目から全体再生。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308秒／表示4秒。字幕は編集可能。背景は編集用の代表フレーム画像。写真の独立した移動・重なり・カメラ演出はMP4に含まれます。音声はsoundtrack.mp3を1枚目から全体再生。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312秒／表示3秒。字幕は編集可能。背景は編集用の代表フレーム画像。写真の独立した移動・重なり・カメラ演出はMP4に含まれます。音声はsoundtrack.mp3を1枚目から全体再生。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315秒／表示4秒。字幕は編集可能。背景は編集用の代表フレーム画像。写真の独立した移動・重なり・カメラ演出はMP4に含まれます。音声はsoundtrack.mp3を1枚目から全体再生。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319秒／表示4秒。字幕は編集可能。背景は編集用の代表フレーム画像。写真の独立した移動・重なり・カメラ演出はMP4に含まれます。音声はsoundtrack.mp3を1枚目から全体再生。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323秒／表示4秒。字幕は編集可能。背景は編集用の代表フレーム画像。写真の独立した移動・重なり・カメラ演出はMP4に含まれます。音声はsoundtrack.mp3を1枚目から全体再生。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327秒／表示3秒。字幕は編集可能。背景は編集用の代表フレーム画像。写真の独立した移動・重なり・カメラ演出はMP4に含まれます。音声はsoundtrack.mp3を1枚目から全体再生。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330秒／表示4秒。字幕は編集可能。背景は編集用の代表フレーム画像。写真の独立した移動・重なり・カメラ演出はMP4に含まれます。音声はsoundtrack.mp3を1枚目から全体再生。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334秒／表示4秒。字幕は編集可能。背景は編集用の代表フレーム画像。写真の独立した移動・重なり・カメラ演出はMP4に含まれます。音声はsoundtrack.mp3を1枚目から全体再生。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338秒／表示4秒。字幕は編集可能。背景は編集用の代表フレーム画像。写真の独立した移動・重なり・カメラ演出はMP4に含まれます。音声はsoundtrack.mp3を1枚目から全体再生。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342秒／表示3秒。字幕は編集可能。背景は編集用の代表フレーム画像。写真の独立した移動・重なり・カメラ演出はMP4に含まれます。音声はsoundtrack.mp3を1枚目から全体再生。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345秒／表示4秒。字幕は編集可能。背景は編集用の代表フレーム画像。写真の独立した移動・重なり・カメラ演出はMP4に含まれます。音声はsoundtrack.mp3を1枚目から全体再生。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349秒／表示4秒。字幕は編集可能。背景は編集用の代表フレーム画像。写真の独立した移動・重なり・カメラ演出はMP4に含まれます。音声はsoundtrack.mp3を1枚目から全体再生。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353秒／表示4秒。字幕は編集可能。背景は編集用の代表フレーム画像。写真の独立した移動・重なり・カメラ演出はMP4に含まれます。音声はsoundtrack.mp3を1枚目から全体再生。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357秒／表示3秒。字幕は編集可能。背景は編集用の代表フレーム画像。写真の独立した移動・重なり・カメラ演出はMP4に含まれます。音声はsoundtrack.mp3を1枚目から全体再生。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360秒／表示4秒。字幕は編集可能。背景は編集用の代表フレーム画像。写真の独立した移動・重なり・カメラ演出はMP4に含まれます。音声はsoundtrack.mp3を1枚目から全体再生。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364秒／表示4秒。字幕は編集可能。背景は編集用の代表フレーム画像。写真の独立した移動・重なり・カメラ演出はMP4に含まれます。音声はsoundtrack.mp3を1枚目から全体再生。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368秒／表示4秒。字幕は編集可能。背景は編集用の代表フレーム画像。写真の独立した移動・重なり・カメラ演出はMP4に含まれます。音声はsoundtrack.mp3を1枚目から全体再生。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372秒／表示3秒。字幕は編集可能。背景は編集用の代表フレーム画像。写真の独立した移動・重なり・カメラ演出はMP4に含まれます。音声はsoundtrack.mp3を1枚目から全体再生。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375秒／表示4秒。字幕は編集可能。背景は編集用の代表フレーム画像。写真の独立した移動・重なり・カメラ演出はMP4に含まれます。音声はsoundtrack.mp3を1枚目から全体再生。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379秒／表示4秒。字幕は編集可能。背景は編集用の代表フレーム画像。写真の独立した移動・重なり・カメラ演出はMP4に含まれます。音声はsoundtrack.mp3を1枚目から全体再生。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383秒／表示4秒。字幕は編集可能。背景は編集用の代表フレーム画像。写真の独立した移動・重なり・カメラ演出はMP4に含まれます。音声はsoundtrack.mp3を1枚目から全体再生。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387秒／表示3秒。字幕は編集可能。背景は編集用の代表フレーム画像。写真の独立した移動・重なり・カメラ演出はMP4に含まれます。音声はsoundtrack.mp3を1枚目から全体再生。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390秒／表示4秒。字幕は編集可能。背景は編集用の代表フレーム画像。写真の独立した移動・重なり・カメラ演出はMP4に含まれます。音声はsoundtrack.mp3を1枚目から全体再生。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394秒／表示4秒。字幕は編集可能。背景は編集用の代表フレーム画像。写真の独立した移動・重なり・カメラ演出はMP4に含まれます。音声はsoundtrack.mp3を1枚目から全体再生。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398秒／表示4秒。字幕は編集可能。背景は編集用の代表フレーム画像。写真の独立した移動・重なり・カメラ演出はMP4に含まれます。音声はsoundtrack.mp3を1枚目から全体再生。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402秒／表示3秒。字幕は編集可能。背景は編集用の代表フレーム画像。写真の独立した移動・重なり・カメラ演出はMP4に含まれます。音声はsoundtrack.mp3を1枚目から全体再生。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405秒／表示4秒。字幕は編集可能。背景は編集用の代表フレーム画像。写真の独立した移動・重なり・カメラ演出はMP4に含まれます。音声はsoundtrack.mp3を1枚目から全体再生。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409秒／表示4秒。字幕は編集可能。背景は編集用の代表フレーム画像。写真の独立した移動・重なり・カメラ演出はMP4に含まれます。音声はsoundtrack.mp3を1枚目から全体再生。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413秒／表示4秒。字幕は編集可能。背景は編集用の代表フレーム画像。写真の独立した移動・重なり・カメラ演出はMP4に含まれます。音声はsoundtrack.mp3を1枚目から全体再生。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動画の開始 417秒／表示3秒。字幕は編集可能。背景は編集用の代表フレーム画像。写真の独立した移動・重なり・カメラ演出はMP4に含まれます。音声はsoundtrack.mp3を1枚目から全体再生。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notesSlide" Target="../notesSlides/notesSlide1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1957 — 2027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70年の感謝を、未来へ。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株式会社ホンヤク出版社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創業70周年</a:t>
            </a:r>
          </a:p>
        </p:txBody>
      </p:sp>
    </p:spTree>
  </p:cSld>
  <p:clrMapOvr>
    <a:masterClrMapping/>
  </p:clrMapOvr>
  <p:transition advClick="0" advTm="3000" spd="fast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技術と人を、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315277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つなぎつづける。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創業70周年記念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伝わることが、価値になる。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伝わることが、価値になる。</a:t>
            </a:r>
          </a:p>
        </p:txBody>
      </p:sp>
    </p:spTree>
  </p:cSld>
  <p:clrMapOvr>
    <a:masterClrMapping/>
  </p:clrMapOvr>
  <p:transition advClick="0" advTm="3000" spd="fast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ホンヤク出版社、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創業。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1957.4.17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言葉の壁を越える挑戦が、始まった。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1957.4.17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1957.4.17</a:t>
            </a:r>
          </a:p>
        </p:txBody>
      </p:sp>
    </p:spTree>
  </p:cSld>
  <p:clrMapOvr>
    <a:masterClrMapping/>
  </p:clrMapOvr>
  <p:transition advClick="0" advTm="3000" spd="fast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始まりは、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航空機マニュアル。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1957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航空機マニュアル・自衛隊技術指令書の翻訳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1957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1957</a:t>
            </a:r>
          </a:p>
        </p:txBody>
      </p:sp>
    </p:spTree>
  </p:cSld>
  <p:clrMapOvr>
    <a:masterClrMapping/>
  </p:clrMapOvr>
  <p:transition advClick="0" advTm="3000" spd="fast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技術と言葉を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つなぐ。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言葉から、技術へ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国際交流と技術導入が広がる時代に。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言葉から、技術へ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言葉から、技術へ</a:t>
            </a:r>
          </a:p>
        </p:txBody>
      </p:sp>
    </p:spTree>
  </p:cSld>
  <p:clrMapOvr>
    <a:masterClrMapping/>
  </p:clrMapOvr>
  <p:transition advClick="0" advTm="3000" spd="fast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国産旅客機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315277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YS-11の活動へ。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パブリケーション活動に参画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1964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1964</a:t>
            </a:r>
          </a:p>
        </p:txBody>
      </p:sp>
    </p:spTree>
  </p:cSld>
  <p:clrMapOvr>
    <a:masterClrMapping/>
  </p:clrMapOvr>
  <p:transition advClick="0" advTm="3000" spd="fast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翻訳から、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マニュアル製作へ。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1965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マニュアル部を発足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1965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1965</a:t>
            </a:r>
          </a:p>
        </p:txBody>
      </p:sp>
    </p:spTree>
  </p:cSld>
  <p:clrMapOvr>
    <a:masterClrMapping/>
  </p:clrMapOvr>
  <p:transition advClick="0" advTm="3000" spd="fast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自動車へ。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機械へ。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広がるフィールド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技術を伝える仕事は、さまざまな分野へ。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広がるフィールド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広がるフィールド</a:t>
            </a:r>
          </a:p>
        </p:txBody>
      </p:sp>
    </p:spTree>
  </p:cSld>
  <p:clrMapOvr>
    <a:masterClrMapping/>
  </p:clrMapOvr>
  <p:transition advClick="0" advTm="3000" spd="fast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名古屋へ。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ものづくりの現場へ。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1980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名古屋出張所を開設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1980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1980</a:t>
            </a:r>
          </a:p>
        </p:txBody>
      </p:sp>
    </p:spTree>
  </p:cSld>
  <p:clrMapOvr>
    <a:masterClrMapping/>
  </p:clrMapOvr>
  <p:transition advClick="0" advTm="3000" spd="fast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建設機械の技術も、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315277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正確に伝える。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海外建機メーカーのマニュアル製作に参画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1980年代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1980年代</a:t>
            </a:r>
          </a:p>
        </p:txBody>
      </p:sp>
    </p:spTree>
  </p:cSld>
  <p:clrMapOvr>
    <a:masterClrMapping/>
  </p:clrMapOvr>
  <p:transition advClick="0" advTm="3000" spd="fast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編集は、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デジタルの時代へ。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1991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DTPシステムを導入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1991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1991</a:t>
            </a:r>
          </a:p>
        </p:txBody>
      </p:sp>
    </p:spTree>
  </p:cSld>
  <p:clrMapOvr>
    <a:masterClrMapping/>
  </p:clrMapOvr>
  <p:transition advClick="0" advTm="3000" spd="fast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情報を、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組み立てる。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1995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SGML処理・構造化・組版自動化への取り組み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1995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1995</a:t>
            </a:r>
          </a:p>
        </p:txBody>
      </p:sp>
    </p:spTree>
  </p:cSld>
  <p:clrMapOvr>
    <a:masterClrMapping/>
  </p:clrMapOvr>
  <p:transition advClick="0" advTm="3000" spd="fast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航空機マニュアルの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新たなかたち。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2013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S1000Dによる構造化・電子化への対応を強化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2013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2013</a:t>
            </a:r>
          </a:p>
        </p:txBody>
      </p:sp>
    </p:spTree>
  </p:cSld>
  <p:clrMapOvr>
    <a:masterClrMapping/>
  </p:clrMapOvr>
  <p:transition advClick="0" advTm="3000" spd="fast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人の知見に、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315277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AIの力を。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AIを活用した事業への取り組み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2016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2016</a:t>
            </a:r>
          </a:p>
        </p:txBody>
      </p:sp>
    </p:spTree>
  </p:cSld>
  <p:clrMapOvr>
    <a:masterClrMapping/>
  </p:clrMapOvr>
  <p:transition advClick="0" advTm="3000" spd="fast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いま、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私たちがつなぐもの。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現在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空、海、そして、ものづくりの現場へ。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現在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現在</a:t>
            </a:r>
          </a:p>
        </p:txBody>
      </p:sp>
    </p:spTree>
  </p:cSld>
  <p:clrMapOvr>
    <a:masterClrMapping/>
  </p:clrMapOvr>
  <p:transition advClick="0" advTm="3000" spd="fast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空の技術を、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確かな情報で。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空を支える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航空機関連ドキュメント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空を支える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空を支える</a:t>
            </a:r>
          </a:p>
        </p:txBody>
      </p:sp>
    </p:spTree>
  </p:cSld>
  <p:clrMapOvr>
    <a:masterClrMapping/>
  </p:clrMapOvr>
  <p:transition advClick="0" advTm="3000" spd="fast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海の技術を、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確かな情報で。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海を支える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艦船関連ドキュメント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海を支える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海を支える</a:t>
            </a:r>
          </a:p>
        </p:txBody>
      </p:sp>
    </p:spTree>
  </p:cSld>
  <p:clrMapOvr>
    <a:masterClrMapping/>
  </p:clrMapOvr>
  <p:transition advClick="0" advTm="3000" spd="fast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現場を動かす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315277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技術を、伝える。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建設機械・自動車のマニュアル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現場を支える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現場を支える</a:t>
            </a:r>
          </a:p>
        </p:txBody>
      </p:sp>
    </p:spTree>
  </p:cSld>
  <p:clrMapOvr>
    <a:masterClrMapping/>
  </p:clrMapOvr>
  <p:transition advClick="0" advTm="3000" spd="fast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つくる人と、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つかう人をつなぐ。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変わらない役割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マニュアル製作・翻訳・イラストレーション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変わらない役割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変わらない役割</a:t>
            </a:r>
          </a:p>
        </p:txBody>
      </p:sp>
    </p:spTree>
  </p:cSld>
  <p:clrMapOvr>
    <a:masterClrMapping/>
  </p:clrMapOvr>
  <p:transition advClick="0" advTm="3000" spd="fast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確かな仕事を、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積み重ねる。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品質と信頼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品質管理と情報セキュリティ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品質と信頼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品質と信頼</a:t>
            </a:r>
          </a:p>
        </p:txBody>
      </p:sp>
    </p:spTree>
  </p:cSld>
  <p:clrMapOvr>
    <a:masterClrMapping/>
  </p:clrMapOvr>
  <p:transition advClick="0" advTm="3000" spd="fast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技術を活かす。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品質は、人が支える。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人とAI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機械翻訳と人によるポストエディット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人とAI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人とAI</a:t>
            </a:r>
          </a:p>
        </p:txBody>
      </p:sp>
    </p:spTree>
  </p:cSld>
  <p:clrMapOvr>
    <a:masterClrMapping/>
  </p:clrMapOvr>
  <p:transition advClick="0" advTm="3000" spd="fast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新たな体制で、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315277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次の一歩へ。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Tra-verse設立・伝株式会社の合併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2024 — 2025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2024 — 2025</a:t>
            </a:r>
          </a:p>
        </p:txBody>
      </p:sp>
    </p:spTree>
  </p:cSld>
  <p:clrMapOvr>
    <a:masterClrMapping/>
  </p:clrMapOvr>
  <p:transition advClick="0" advTm="3000" spd="fast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未来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次の時代へ。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未来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変わらない想いと、新しい挑戦。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未来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未来</a:t>
            </a:r>
          </a:p>
        </p:txBody>
      </p:sp>
    </p:spTree>
  </p:cSld>
  <p:clrMapOvr>
    <a:masterClrMapping/>
  </p:clrMapOvr>
  <p:transition advClick="0" advTm="3000" spd="fast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伝わる先に、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人がいる。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必要な情報を、必要なタイミングで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安全で、わかりやすい情報を届けるために。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必要な情報を、必要なタイミングで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必要な情報を、必要なタイミングで</a:t>
            </a:r>
          </a:p>
        </p:txBody>
      </p:sp>
    </p:spTree>
  </p:cSld>
  <p:clrMapOvr>
    <a:masterClrMapping/>
  </p:clrMapOvr>
  <p:transition advClick="0" advTm="3000" spd="fast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「伝わる」を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デザインする。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私たちのミッション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ワンストップで、継続的に提供する。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私たちのミッション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私たちのミッション</a:t>
            </a:r>
          </a:p>
        </p:txBody>
      </p:sp>
    </p:spTree>
  </p:cSld>
  <p:clrMapOvr>
    <a:masterClrMapping/>
  </p:clrMapOvr>
  <p:transition advClick="0" advTm="3000" spd="fast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共に成長する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未来を。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これからも、共に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共に成長する未来を。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これからも、共に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これからも、共に</a:t>
            </a:r>
          </a:p>
        </p:txBody>
      </p:sp>
    </p:spTree>
  </p:cSld>
  <p:clrMapOvr>
    <a:masterClrMapping/>
  </p:clrMapOvr>
  <p:transition advClick="0" advTm="3000" spd="fast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お客様、社員、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パートナーの皆さまと。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信頼を、未来へ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お客様、社員、パートナーの皆さまと。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信頼を、未来へ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238125"/>
            <a:ext cx="3810000" cy="476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25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信頼を、未来へ</a:t>
            </a:r>
          </a:p>
        </p:txBody>
      </p:sp>
    </p:spTree>
  </p:cSld>
  <p:clrMapOvr>
    <a:masterClrMapping/>
  </p:clrMapOvr>
  <p:transition advClick="0" advTm="3000" spd="fast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70年の感謝を、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共に目指す、100年。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株式会社ホンヤク出版社</a:t>
            </a:r>
          </a:p>
        </p:txBody>
      </p:sp>
    </p:spTree>
  </p:cSld>
  <p:clrMapOvr>
    <a:masterClrMapping/>
  </p:clrMapOvr>
  <p:transition advClick="0" advTm="4000" spd="fast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-1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" y="5648325"/>
            <a:ext cx="11811000" cy="6953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50">
                <a:solidFill>
                  <a:srgbClr val="004385"/>
                </a:solidFill>
                <a:latin typeface="Noto Sans CJK JP"/>
              </a:defRPr>
            </a:pPr>
            <a:r>
              <a:rPr>
                <a:ea typeface="Noto Sans CJK JP"/>
              </a:rPr>
              <a:t>株式会社ホンヤク出版社</a:t>
            </a:r>
          </a:p>
        </p:txBody>
      </p:sp>
    </p:spTree>
  </p:cSld>
  <p:clrMapOvr>
    <a:masterClrMapping/>
  </p:clrMapOvr>
  <p:transition advClick="0" advTm="3000"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