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表示15秒。動画の開始 0秒。資料：会社紹介資料・沿革スクリーンショット・ユーザー提供ラフ。分野イメージは生成画像。役員写真は元PPTX実画像を使用。BGMは音声ファイルを1枚目から全体再生。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表示15秒。動画の開始 15秒。資料：会社紹介資料・沿革スクリーンショット・ユーザー提供ラフ。分野イメージは生成画像。役員写真は元PPTX実画像を使用。BGMは音声ファイルを1枚目から全体再生。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表示15秒。動画の開始 30秒。資料：会社紹介資料・沿革スクリーンショット・ユーザー提供ラフ。分野イメージは生成画像。役員写真は元PPTX実画像を使用。BGMは音声ファイルを1枚目から全体再生。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表示15秒。動画の開始 45秒。資料：会社紹介資料・沿革スクリーンショット・ユーザー提供ラフ。分野イメージは生成画像。役員写真は元PPTX実画像を使用。BGMは音声ファイルを1枚目から全体再生。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表示15秒。動画の開始 60秒。資料：会社紹介資料・沿革スクリーンショット・ユーザー提供ラフ。分野イメージは生成画像。役員写真は元PPTX実画像を使用。BGMは音声ファイルを1枚目から全体再生。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表示15秒。動画の開始 75秒。資料：会社紹介資料・沿革スクリーンショット・ユーザー提供ラフ。分野イメージは生成画像。役員写真は元PPTX実画像を使用。BGMは音声ファイルを1枚目から全体再生。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表示15秒。動画の開始 90秒。資料：会社紹介資料・沿革スクリーンショット・ユーザー提供ラフ。分野イメージは生成画像。役員写真は元PPTX実画像を使用。BGMは音声ファイルを1枚目から全体再生。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表示15秒。動画の開始 105秒。資料：会社紹介資料・沿革スクリーンショット・ユーザー提供ラフ。分野イメージは生成画像。役員写真は元PPTX実画像を使用。BGMは音声ファイルを1枚目から全体再生。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表示15秒。動画の開始 120秒。資料：会社紹介資料・沿革スクリーンショット・ユーザー提供ラフ。分野イメージは生成画像。役員写真は元PPTX実画像を使用。BGMは音声ファイルを1枚目から全体再生。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表示15秒。動画の開始 135秒。資料：会社紹介資料・沿革スクリーンショット・ユーザー提供ラフ。分野イメージは生成画像。役員写真は元PPTX実画像を使用。BGMは音声ファイルを1枚目から全体再生。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表示15秒。動画の開始 150秒。資料：会社紹介資料・沿革スクリーンショット・ユーザー提供ラフ。分野イメージは生成画像。役員写真は元PPTX実画像を使用。BGMは音声ファイルを1枚目から全体再生。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表示15秒。動画の開始 165秒。資料：会社紹介資料・沿革スクリーンショット・ユーザー提供ラフ。分野イメージは生成画像。役員写真は元PPTX実画像を使用。BGMは音声ファイルを1枚目から全体再生。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表示15秒。動画の開始 180秒。資料：会社紹介資料・沿革スクリーンショット・ユーザー提供ラフ。分野イメージは生成画像。役員写真は元PPTX実画像を使用。BGMは音声ファイルを1枚目から全体再生。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表示15秒。動画の開始 195秒。資料：会社紹介資料・沿革スクリーンショット・ユーザー提供ラフ。分野イメージは生成画像。役員写真は元PPTX実画像を使用。BGMは音声ファイルを1枚目から全体再生。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表示15秒。動画の開始 210秒。資料：会社紹介資料・沿革スクリーンショット・ユーザー提供ラフ。分野イメージは生成画像。役員写真は元PPTX実画像を使用。BGMは音声ファイルを1枚目から全体再生。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表示15秒。動画の開始 225秒。資料：会社紹介資料・沿革スクリーンショット・ユーザー提供ラフ。分野イメージは生成画像。役員写真は元PPTX実画像を使用。BGMは音声ファイルを1枚目から全体再生。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表示15秒。動画の開始 240秒。資料：会社紹介資料・沿革スクリーンショット・ユーザー提供ラフ。分野イメージは生成画像。役員写真は元PPTX実画像を使用。BGMは音声ファイルを1枚目から全体再生。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表示15秒。動画の開始 255秒。資料：会社紹介資料・沿革スクリーンショット・ユーザー提供ラフ。分野イメージは生成画像。役員写真は元PPTX実画像を使用。BGMは音声ファイルを1枚目から全体再生。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表示15秒。動画の開始 270秒。資料：会社紹介資料・沿革スクリーンショット・ユーザー提供ラフ。分野イメージは生成画像。役員写真は元PPTX実画像を使用。BGMは音声ファイルを1枚目から全体再生。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表示15秒。動画の開始 285秒。資料：会社紹介資料・沿革スクリーンショット・ユーザー提供ラフ。分野イメージは生成画像。役員写真は元PPTX実画像を使用。BGMは音声ファイルを1枚目から全体再生。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表示15秒。動画の開始 300秒。資料：会社紹介資料・沿革スクリーンショット・ユーザー提供ラフ。分野イメージは生成画像。役員写真は元PPTX実画像を使用。BGMは音声ファイルを1枚目から全体再生。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表示15秒。動画の開始 315秒。資料：会社紹介資料・沿革スクリーンショット・ユーザー提供ラフ。分野イメージは生成画像。役員写真は元PPTX実画像を使用。BGMは音声ファイルを1枚目から全体再生。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表示15秒。動画の開始 330秒。資料：会社紹介資料・沿革スクリーンショット・ユーザー提供ラフ。分野イメージは生成画像。役員写真は元PPTX実画像を使用。BGMは音声ファイルを1枚目から全体再生。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表示15秒。動画の開始 345秒。資料：会社紹介資料・沿革スクリーンショット・ユーザー提供ラフ。分野イメージは生成画像。役員写真は元PPTX実画像を使用。BGMは音声ファイルを1枚目から全体再生。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表示15秒。動画の開始 360秒。資料：会社紹介資料・沿革スクリーンショット・ユーザー提供ラフ。分野イメージは生成画像。役員写真は元PPTX実画像を使用。BGMは音声ファイルを1枚目から全体再生。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表示15秒。動画の開始 375秒。資料：会社紹介資料・沿革スクリーンショット・ユーザー提供ラフ。分野イメージは生成画像。役員写真は元PPTX実画像を使用。BGMは音声ファイルを1枚目から全体再生。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表示15秒。動画の開始 390秒。資料：会社紹介資料・沿革スクリーンショット・ユーザー提供ラフ。分野イメージは生成画像。役員写真は元PPTX実画像を使用。BGMは音声ファイルを1枚目から全体再生。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表示15秒。動画の開始 405秒。資料：会社紹介資料・沿革スクリーンショット・ユーザー提供ラフ。分野イメージは生成画像。役員写真は元PPTX実画像を使用。BGMは音声ファイルを1枚目から全体再生。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3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1.jpg"/>
          <p:cNvPicPr>
            <a:picLocks noChangeAspect="1"/>
          </p:cNvPicPr>
          <p:nvPr/>
        </p:nvPicPr>
        <p:blipFill>
          <a:blip r:embed="rId2"/>
          <a:srcRect l="10296" r="10296"/>
          <a:stretch>
            <a:fillRect/>
          </a:stretch>
        </p:blipFill>
        <p:spPr>
          <a:xfrm>
            <a:off x="4023360" y="0"/>
            <a:ext cx="816863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0B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44168"/>
            <a:ext cx="457200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E5C27E"/>
                </a:solidFill>
                <a:latin typeface="Noto Sans CJK JP"/>
              </a:defRPr>
            </a:pPr>
            <a:r>
              <a:rPr>
                <a:ea typeface="Noto Sans CJK JP"/>
              </a:rPr>
              <a:t>1957 — 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246888"/>
            <a:ext cx="2743200" cy="10972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6400" b="1">
                <a:solidFill>
                  <a:srgbClr val="E5C27E"/>
                </a:solidFill>
                <a:latin typeface="Noto Sans CJK JP"/>
              </a:defRPr>
            </a:pPr>
            <a:r>
              <a:rPr>
                <a:ea typeface="Noto Sans CJK JP"/>
              </a:rPr>
              <a:t>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313432"/>
            <a:ext cx="4846320" cy="228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40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70年の感謝を、</a:t>
            </a:r>
          </a:p>
          <a:p>
            <a:pPr>
              <a:spcAft>
                <a:spcPts val="800"/>
              </a:spcAft>
              <a:defRPr sz="40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未来へ。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910328"/>
            <a:ext cx="4572000" cy="1005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CBD5E1"/>
                </a:solidFill>
                <a:latin typeface="Noto Sans CJK JP"/>
              </a:defRPr>
            </a:pPr>
            <a:r>
              <a:rPr>
                <a:ea typeface="Noto Sans CJK JP"/>
              </a:rPr>
              <a:t>株式会社ホンヤク出版社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236208"/>
            <a:ext cx="4206240" cy="10972"/>
          </a:xfrm>
          <a:prstGeom prst="rect">
            <a:avLst/>
          </a:prstGeom>
          <a:solidFill>
            <a:srgbClr val="294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391656"/>
            <a:ext cx="4114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CBD5E1"/>
                </a:solidFill>
                <a:latin typeface="Noto Sans CJK JP"/>
              </a:defRPr>
            </a:pPr>
            <a:r>
              <a:rPr>
                <a:ea typeface="Noto Sans CJK JP"/>
              </a:rPr>
              <a:t>序章  /  01</a:t>
            </a:r>
          </a:p>
        </p:txBody>
      </p:sp>
    </p:spTree>
  </p:cSld>
  <p:clrMapOvr>
    <a:masterClrMapping/>
  </p:clrMapOvr>
  <p:transition advClick="0" advTm="15000"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3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ghter.png"/>
          <p:cNvPicPr>
            <a:picLocks noChangeAspect="1"/>
          </p:cNvPicPr>
          <p:nvPr/>
        </p:nvPicPr>
        <p:blipFill>
          <a:blip r:embed="rId2"/>
          <a:srcRect l="16482" r="16482"/>
          <a:stretch>
            <a:fillRect/>
          </a:stretch>
        </p:blipFill>
        <p:spPr>
          <a:xfrm>
            <a:off x="4023360" y="0"/>
            <a:ext cx="816863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0B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44168"/>
            <a:ext cx="457200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E5C27E"/>
                </a:solidFill>
                <a:latin typeface="Noto Sans CJK JP"/>
              </a:defRPr>
            </a:pPr>
            <a:r>
              <a:rPr>
                <a:ea typeface="Noto Sans CJK JP"/>
              </a:rPr>
              <a:t>伝わることが、価値になる。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313432"/>
            <a:ext cx="4846320" cy="228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技術と人を、</a:t>
            </a:r>
          </a:p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つなぎつづける。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910328"/>
            <a:ext cx="4572000" cy="1005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CBD5E1"/>
                </a:solidFill>
                <a:latin typeface="Noto Sans CJK JP"/>
              </a:defRPr>
            </a:pPr>
            <a:r>
              <a:rPr>
                <a:ea typeface="Noto Sans CJK JP"/>
              </a:rPr>
              <a:t>創業70周年記念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236208"/>
            <a:ext cx="4206240" cy="10972"/>
          </a:xfrm>
          <a:prstGeom prst="rect">
            <a:avLst/>
          </a:prstGeom>
          <a:solidFill>
            <a:srgbClr val="294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391656"/>
            <a:ext cx="4114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CBD5E1"/>
                </a:solidFill>
                <a:latin typeface="Noto Sans CJK JP"/>
              </a:defRPr>
            </a:pPr>
            <a:r>
              <a:rPr>
                <a:ea typeface="Noto Sans CJK JP"/>
              </a:rPr>
              <a:t>序章  / 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10528"/>
            <a:ext cx="13716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CBD5E1"/>
                </a:solidFill>
                <a:latin typeface="Noto Sans CJK JP"/>
              </a:defRPr>
            </a:pPr>
            <a:r>
              <a:rPr>
                <a:ea typeface="Noto Sans CJK JP"/>
              </a:rPr>
              <a:t>分野イメージ</a:t>
            </a:r>
          </a:p>
        </p:txBody>
      </p:sp>
    </p:spTree>
  </p:cSld>
  <p:clrMapOvr>
    <a:masterClrMapping/>
  </p:clrMapOvr>
  <p:transition advClick="0" advTm="15000"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3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3.jpg"/>
          <p:cNvPicPr>
            <a:picLocks noChangeAspect="1"/>
          </p:cNvPicPr>
          <p:nvPr/>
        </p:nvPicPr>
        <p:blipFill>
          <a:blip r:embed="rId2"/>
          <a:srcRect l="10451" r="10451"/>
          <a:stretch>
            <a:fillRect/>
          </a:stretch>
        </p:blipFill>
        <p:spPr>
          <a:xfrm>
            <a:off x="4023360" y="0"/>
            <a:ext cx="816863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0B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44168"/>
            <a:ext cx="457200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E5C27E"/>
                </a:solidFill>
                <a:latin typeface="Noto Sans CJK JP"/>
              </a:defRPr>
            </a:pPr>
            <a:r>
              <a:rPr>
                <a:ea typeface="Noto Sans CJK JP"/>
              </a:rPr>
              <a:t>1957.4.17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313432"/>
            <a:ext cx="4846320" cy="228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ホンヤク出版社、</a:t>
            </a:r>
          </a:p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創業。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910328"/>
            <a:ext cx="4572000" cy="1005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CBD5E1"/>
                </a:solidFill>
                <a:latin typeface="Noto Sans CJK JP"/>
              </a:defRPr>
            </a:pPr>
            <a:r>
              <a:rPr>
                <a:ea typeface="Noto Sans CJK JP"/>
              </a:rPr>
              <a:t>言葉の壁を越える挑戦が、始まった。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236208"/>
            <a:ext cx="4206240" cy="10972"/>
          </a:xfrm>
          <a:prstGeom prst="rect">
            <a:avLst/>
          </a:prstGeom>
          <a:solidFill>
            <a:srgbClr val="294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391656"/>
            <a:ext cx="4114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CBD5E1"/>
                </a:solidFill>
                <a:latin typeface="Noto Sans CJK JP"/>
              </a:defRPr>
            </a:pPr>
            <a:r>
              <a:rPr>
                <a:ea typeface="Noto Sans CJK JP"/>
              </a:rPr>
              <a:t>過去  /  03</a:t>
            </a:r>
          </a:p>
        </p:txBody>
      </p:sp>
    </p:spTree>
  </p:cSld>
  <p:clrMapOvr>
    <a:masterClrMapping/>
  </p:clrMapOvr>
  <p:transition advClick="0" advTm="15000"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3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3.jpg"/>
          <p:cNvPicPr>
            <a:picLocks noChangeAspect="1"/>
          </p:cNvPicPr>
          <p:nvPr/>
        </p:nvPicPr>
        <p:blipFill>
          <a:blip r:embed="rId2"/>
          <a:srcRect l="10451" r="10451"/>
          <a:stretch>
            <a:fillRect/>
          </a:stretch>
        </p:blipFill>
        <p:spPr>
          <a:xfrm>
            <a:off x="4023360" y="0"/>
            <a:ext cx="816863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0B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44168"/>
            <a:ext cx="457200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E5C27E"/>
                </a:solidFill>
                <a:latin typeface="Noto Sans CJK JP"/>
              </a:defRPr>
            </a:pPr>
            <a:r>
              <a:rPr>
                <a:ea typeface="Noto Sans CJK JP"/>
              </a:rPr>
              <a:t>1957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313432"/>
            <a:ext cx="4846320" cy="228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始まりは、</a:t>
            </a:r>
          </a:p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航空機マニュアル。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910328"/>
            <a:ext cx="4572000" cy="1005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CBD5E1"/>
                </a:solidFill>
                <a:latin typeface="Noto Sans CJK JP"/>
              </a:defRPr>
            </a:pPr>
            <a:r>
              <a:rPr>
                <a:ea typeface="Noto Sans CJK JP"/>
              </a:rPr>
              <a:t>航空機マニュアル・自衛隊技術指令書の翻訳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236208"/>
            <a:ext cx="4206240" cy="10972"/>
          </a:xfrm>
          <a:prstGeom prst="rect">
            <a:avLst/>
          </a:prstGeom>
          <a:solidFill>
            <a:srgbClr val="294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391656"/>
            <a:ext cx="4114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CBD5E1"/>
                </a:solidFill>
                <a:latin typeface="Noto Sans CJK JP"/>
              </a:defRPr>
            </a:pPr>
            <a:r>
              <a:rPr>
                <a:ea typeface="Noto Sans CJK JP"/>
              </a:rPr>
              <a:t>過去  /  04</a:t>
            </a:r>
          </a:p>
        </p:txBody>
      </p:sp>
    </p:spTree>
  </p:cSld>
  <p:clrMapOvr>
    <a:masterClrMapping/>
  </p:clrMapOvr>
  <p:transition advClick="0" advTm="15000"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3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ghter.png"/>
          <p:cNvPicPr>
            <a:picLocks noChangeAspect="1"/>
          </p:cNvPicPr>
          <p:nvPr/>
        </p:nvPicPr>
        <p:blipFill>
          <a:blip r:embed="rId2"/>
          <a:srcRect l="16482" r="16482"/>
          <a:stretch>
            <a:fillRect/>
          </a:stretch>
        </p:blipFill>
        <p:spPr>
          <a:xfrm>
            <a:off x="4023360" y="0"/>
            <a:ext cx="816863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0B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44168"/>
            <a:ext cx="457200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E5C27E"/>
                </a:solidFill>
                <a:latin typeface="Noto Sans CJK JP"/>
              </a:defRPr>
            </a:pPr>
            <a:r>
              <a:rPr>
                <a:ea typeface="Noto Sans CJK JP"/>
              </a:rPr>
              <a:t>言葉から、技術へ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313432"/>
            <a:ext cx="4846320" cy="228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技術と言葉を</a:t>
            </a:r>
          </a:p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つなぐ。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910328"/>
            <a:ext cx="4572000" cy="1005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CBD5E1"/>
                </a:solidFill>
                <a:latin typeface="Noto Sans CJK JP"/>
              </a:defRPr>
            </a:pPr>
            <a:r>
              <a:rPr>
                <a:ea typeface="Noto Sans CJK JP"/>
              </a:rPr>
              <a:t>国際交流と技術導入が広がる時代に。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236208"/>
            <a:ext cx="4206240" cy="10972"/>
          </a:xfrm>
          <a:prstGeom prst="rect">
            <a:avLst/>
          </a:prstGeom>
          <a:solidFill>
            <a:srgbClr val="294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391656"/>
            <a:ext cx="4114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CBD5E1"/>
                </a:solidFill>
                <a:latin typeface="Noto Sans CJK JP"/>
              </a:defRPr>
            </a:pPr>
            <a:r>
              <a:rPr>
                <a:ea typeface="Noto Sans CJK JP"/>
              </a:rPr>
              <a:t>過去  /  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10528"/>
            <a:ext cx="13716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CBD5E1"/>
                </a:solidFill>
                <a:latin typeface="Noto Sans CJK JP"/>
              </a:defRPr>
            </a:pPr>
            <a:r>
              <a:rPr>
                <a:ea typeface="Noto Sans CJK JP"/>
              </a:rPr>
              <a:t>分野イメージ</a:t>
            </a:r>
          </a:p>
        </p:txBody>
      </p:sp>
    </p:spTree>
  </p:cSld>
  <p:clrMapOvr>
    <a:masterClrMapping/>
  </p:clrMapOvr>
  <p:transition advClick="0" advTm="15000"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0B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0" y="2148840"/>
            <a:ext cx="5486400" cy="146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7000" b="1">
                <a:solidFill>
                  <a:srgbClr val="E5C27E"/>
                </a:solidFill>
                <a:latin typeface="Noto Sans CJK JP"/>
              </a:defRPr>
            </a:pPr>
            <a:r>
              <a:rPr>
                <a:ea typeface="Noto Sans CJK JP"/>
              </a:rPr>
              <a:t>YS-11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0" y="3840480"/>
            <a:ext cx="548640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CBD5E1"/>
                </a:solidFill>
                <a:latin typeface="Noto Sans CJK JP"/>
              </a:defRPr>
            </a:pPr>
            <a:r>
              <a:rPr>
                <a:ea typeface="Noto Sans CJK JP"/>
              </a:rPr>
              <a:t>国産旅客機の技術を伝える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44168"/>
            <a:ext cx="457200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E5C27E"/>
                </a:solidFill>
                <a:latin typeface="Noto Sans CJK JP"/>
              </a:defRPr>
            </a:pPr>
            <a:r>
              <a:rPr>
                <a:ea typeface="Noto Sans CJK JP"/>
              </a:rPr>
              <a:t>1964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313432"/>
            <a:ext cx="4846320" cy="228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国産旅客機</a:t>
            </a:r>
          </a:p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YS-11の活動へ。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910328"/>
            <a:ext cx="4572000" cy="1005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CBD5E1"/>
                </a:solidFill>
                <a:latin typeface="Noto Sans CJK JP"/>
              </a:defRPr>
            </a:pPr>
            <a:r>
              <a:rPr>
                <a:ea typeface="Noto Sans CJK JP"/>
              </a:rPr>
              <a:t>パブリケーション活動に参画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236208"/>
            <a:ext cx="4206240" cy="10972"/>
          </a:xfrm>
          <a:prstGeom prst="rect">
            <a:avLst/>
          </a:prstGeom>
          <a:solidFill>
            <a:srgbClr val="294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391656"/>
            <a:ext cx="4114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CBD5E1"/>
                </a:solidFill>
                <a:latin typeface="Noto Sans CJK JP"/>
              </a:defRPr>
            </a:pPr>
            <a:r>
              <a:rPr>
                <a:ea typeface="Noto Sans CJK JP"/>
              </a:rPr>
              <a:t>過去  /  06</a:t>
            </a:r>
          </a:p>
        </p:txBody>
      </p:sp>
    </p:spTree>
  </p:cSld>
  <p:clrMapOvr>
    <a:masterClrMapping/>
  </p:clrMapOvr>
  <p:transition advClick="0" advTm="15000"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0B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0" y="1280160"/>
            <a:ext cx="4892040" cy="960120"/>
          </a:xfrm>
          <a:prstGeom prst="rect">
            <a:avLst/>
          </a:prstGeom>
          <a:solidFill>
            <a:srgbClr val="14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0" y="1280160"/>
            <a:ext cx="41148" cy="960120"/>
          </a:xfrm>
          <a:prstGeom prst="rect">
            <a:avLst/>
          </a:prstGeom>
          <a:solidFill>
            <a:srgbClr val="E5C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20840" y="1545336"/>
            <a:ext cx="42976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取材・理解</a:t>
            </a:r>
          </a:p>
        </p:txBody>
      </p:sp>
      <p:sp>
        <p:nvSpPr>
          <p:cNvPr id="6" name="Rectangle 5"/>
          <p:cNvSpPr/>
          <p:nvPr/>
        </p:nvSpPr>
        <p:spPr>
          <a:xfrm>
            <a:off x="8778240" y="2286000"/>
            <a:ext cx="22860" cy="320040"/>
          </a:xfrm>
          <a:prstGeom prst="rect">
            <a:avLst/>
          </a:prstGeom>
          <a:solidFill>
            <a:srgbClr val="E5C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0" y="2743200"/>
            <a:ext cx="4892040" cy="960120"/>
          </a:xfrm>
          <a:prstGeom prst="rect">
            <a:avLst/>
          </a:prstGeom>
          <a:solidFill>
            <a:srgbClr val="14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2743200"/>
            <a:ext cx="41148" cy="960120"/>
          </a:xfrm>
          <a:prstGeom prst="rect">
            <a:avLst/>
          </a:prstGeom>
          <a:solidFill>
            <a:srgbClr val="E5C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3008376"/>
            <a:ext cx="42976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原稿・図面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78240" y="3749039"/>
            <a:ext cx="22860" cy="320040"/>
          </a:xfrm>
          <a:prstGeom prst="rect">
            <a:avLst/>
          </a:prstGeom>
          <a:solidFill>
            <a:srgbClr val="E5C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4206240"/>
            <a:ext cx="4892040" cy="960120"/>
          </a:xfrm>
          <a:prstGeom prst="rect">
            <a:avLst/>
          </a:prstGeom>
          <a:solidFill>
            <a:srgbClr val="14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4206240"/>
            <a:ext cx="41148" cy="960120"/>
          </a:xfrm>
          <a:prstGeom prst="rect">
            <a:avLst/>
          </a:prstGeom>
          <a:solidFill>
            <a:srgbClr val="E5C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4471416"/>
            <a:ext cx="42976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マニュアル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1344168"/>
            <a:ext cx="457200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E5C27E"/>
                </a:solidFill>
                <a:latin typeface="Noto Sans CJK JP"/>
              </a:defRPr>
            </a:pPr>
            <a:r>
              <a:rPr>
                <a:ea typeface="Noto Sans CJK JP"/>
              </a:rPr>
              <a:t>1965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313432"/>
            <a:ext cx="4846320" cy="228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翻訳から、</a:t>
            </a:r>
          </a:p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マニュアル製作へ。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910328"/>
            <a:ext cx="4572000" cy="1005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CBD5E1"/>
                </a:solidFill>
                <a:latin typeface="Noto Sans CJK JP"/>
              </a:defRPr>
            </a:pPr>
            <a:r>
              <a:rPr>
                <a:ea typeface="Noto Sans CJK JP"/>
              </a:rPr>
              <a:t>マニュアル部を発足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236208"/>
            <a:ext cx="4206240" cy="10972"/>
          </a:xfrm>
          <a:prstGeom prst="rect">
            <a:avLst/>
          </a:prstGeom>
          <a:solidFill>
            <a:srgbClr val="294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6391656"/>
            <a:ext cx="4114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CBD5E1"/>
                </a:solidFill>
                <a:latin typeface="Noto Sans CJK JP"/>
              </a:defRPr>
            </a:pPr>
            <a:r>
              <a:rPr>
                <a:ea typeface="Noto Sans CJK JP"/>
              </a:rPr>
              <a:t>過去  /  07</a:t>
            </a:r>
          </a:p>
        </p:txBody>
      </p:sp>
    </p:spTree>
  </p:cSld>
  <p:clrMapOvr>
    <a:masterClrMapping/>
  </p:clrMapOvr>
  <p:transition advClick="0" advTm="15000"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3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r.png"/>
          <p:cNvPicPr>
            <a:picLocks noChangeAspect="1"/>
          </p:cNvPicPr>
          <p:nvPr/>
        </p:nvPicPr>
        <p:blipFill>
          <a:blip r:embed="rId2"/>
          <a:srcRect l="16518" r="16518"/>
          <a:stretch>
            <a:fillRect/>
          </a:stretch>
        </p:blipFill>
        <p:spPr>
          <a:xfrm>
            <a:off x="4023360" y="0"/>
            <a:ext cx="816863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0B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44168"/>
            <a:ext cx="457200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E5C27E"/>
                </a:solidFill>
                <a:latin typeface="Noto Sans CJK JP"/>
              </a:defRPr>
            </a:pPr>
            <a:r>
              <a:rPr>
                <a:ea typeface="Noto Sans CJK JP"/>
              </a:rPr>
              <a:t>広がるフィールド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313432"/>
            <a:ext cx="4846320" cy="228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自動車へ。</a:t>
            </a:r>
          </a:p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機械へ。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910328"/>
            <a:ext cx="4572000" cy="1005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CBD5E1"/>
                </a:solidFill>
                <a:latin typeface="Noto Sans CJK JP"/>
              </a:defRPr>
            </a:pPr>
            <a:r>
              <a:rPr>
                <a:ea typeface="Noto Sans CJK JP"/>
              </a:rPr>
              <a:t>技術を伝える仕事は、さまざまな分野へ。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236208"/>
            <a:ext cx="4206240" cy="10972"/>
          </a:xfrm>
          <a:prstGeom prst="rect">
            <a:avLst/>
          </a:prstGeom>
          <a:solidFill>
            <a:srgbClr val="294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391656"/>
            <a:ext cx="4114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CBD5E1"/>
                </a:solidFill>
                <a:latin typeface="Noto Sans CJK JP"/>
              </a:defRPr>
            </a:pPr>
            <a:r>
              <a:rPr>
                <a:ea typeface="Noto Sans CJK JP"/>
              </a:rPr>
              <a:t>過去  / 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10528"/>
            <a:ext cx="13716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CBD5E1"/>
                </a:solidFill>
                <a:latin typeface="Noto Sans CJK JP"/>
              </a:defRPr>
            </a:pPr>
            <a:r>
              <a:rPr>
                <a:ea typeface="Noto Sans CJK JP"/>
              </a:rPr>
              <a:t>分野イメージ</a:t>
            </a:r>
          </a:p>
        </p:txBody>
      </p:sp>
    </p:spTree>
  </p:cSld>
  <p:clrMapOvr>
    <a:masterClrMapping/>
  </p:clrMapOvr>
  <p:transition advClick="0" advTm="15000"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3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r.png"/>
          <p:cNvPicPr>
            <a:picLocks noChangeAspect="1"/>
          </p:cNvPicPr>
          <p:nvPr/>
        </p:nvPicPr>
        <p:blipFill>
          <a:blip r:embed="rId2"/>
          <a:srcRect l="16518" r="16518"/>
          <a:stretch>
            <a:fillRect/>
          </a:stretch>
        </p:blipFill>
        <p:spPr>
          <a:xfrm>
            <a:off x="4023360" y="0"/>
            <a:ext cx="816863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0B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44168"/>
            <a:ext cx="457200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E5C27E"/>
                </a:solidFill>
                <a:latin typeface="Noto Sans CJK JP"/>
              </a:defRPr>
            </a:pPr>
            <a:r>
              <a:rPr>
                <a:ea typeface="Noto Sans CJK JP"/>
              </a:rPr>
              <a:t>1980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313432"/>
            <a:ext cx="4846320" cy="228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名古屋へ。</a:t>
            </a:r>
          </a:p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ものづくりの現場へ。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910328"/>
            <a:ext cx="4572000" cy="1005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CBD5E1"/>
                </a:solidFill>
                <a:latin typeface="Noto Sans CJK JP"/>
              </a:defRPr>
            </a:pPr>
            <a:r>
              <a:rPr>
                <a:ea typeface="Noto Sans CJK JP"/>
              </a:rPr>
              <a:t>名古屋出張所を開設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236208"/>
            <a:ext cx="4206240" cy="10972"/>
          </a:xfrm>
          <a:prstGeom prst="rect">
            <a:avLst/>
          </a:prstGeom>
          <a:solidFill>
            <a:srgbClr val="294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391656"/>
            <a:ext cx="4114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CBD5E1"/>
                </a:solidFill>
                <a:latin typeface="Noto Sans CJK JP"/>
              </a:defRPr>
            </a:pPr>
            <a:r>
              <a:rPr>
                <a:ea typeface="Noto Sans CJK JP"/>
              </a:rPr>
              <a:t>過去  / 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10528"/>
            <a:ext cx="13716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CBD5E1"/>
                </a:solidFill>
                <a:latin typeface="Noto Sans CJK JP"/>
              </a:defRPr>
            </a:pPr>
            <a:r>
              <a:rPr>
                <a:ea typeface="Noto Sans CJK JP"/>
              </a:rPr>
              <a:t>分野イメージ</a:t>
            </a:r>
          </a:p>
        </p:txBody>
      </p:sp>
    </p:spTree>
  </p:cSld>
  <p:clrMapOvr>
    <a:masterClrMapping/>
  </p:clrMapOvr>
  <p:transition advClick="0" advTm="15000"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3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xcavator.png"/>
          <p:cNvPicPr>
            <a:picLocks noChangeAspect="1"/>
          </p:cNvPicPr>
          <p:nvPr/>
        </p:nvPicPr>
        <p:blipFill>
          <a:blip r:embed="rId2"/>
          <a:srcRect l="16482" r="16482"/>
          <a:stretch>
            <a:fillRect/>
          </a:stretch>
        </p:blipFill>
        <p:spPr>
          <a:xfrm>
            <a:off x="4023360" y="0"/>
            <a:ext cx="816863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0B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44168"/>
            <a:ext cx="457200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E5C27E"/>
                </a:solidFill>
                <a:latin typeface="Noto Sans CJK JP"/>
              </a:defRPr>
            </a:pPr>
            <a:r>
              <a:rPr>
                <a:ea typeface="Noto Sans CJK JP"/>
              </a:rPr>
              <a:t>1980年代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313432"/>
            <a:ext cx="4846320" cy="228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建設機械の技術も、</a:t>
            </a:r>
          </a:p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正確に伝える。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910328"/>
            <a:ext cx="4572000" cy="1005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CBD5E1"/>
                </a:solidFill>
                <a:latin typeface="Noto Sans CJK JP"/>
              </a:defRPr>
            </a:pPr>
            <a:r>
              <a:rPr>
                <a:ea typeface="Noto Sans CJK JP"/>
              </a:rPr>
              <a:t>海外建機メーカーのマニュアル製作に参画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236208"/>
            <a:ext cx="4206240" cy="10972"/>
          </a:xfrm>
          <a:prstGeom prst="rect">
            <a:avLst/>
          </a:prstGeom>
          <a:solidFill>
            <a:srgbClr val="294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391656"/>
            <a:ext cx="4114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CBD5E1"/>
                </a:solidFill>
                <a:latin typeface="Noto Sans CJK JP"/>
              </a:defRPr>
            </a:pPr>
            <a:r>
              <a:rPr>
                <a:ea typeface="Noto Sans CJK JP"/>
              </a:rPr>
              <a:t>過去  / 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10528"/>
            <a:ext cx="13716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CBD5E1"/>
                </a:solidFill>
                <a:latin typeface="Noto Sans CJK JP"/>
              </a:defRPr>
            </a:pPr>
            <a:r>
              <a:rPr>
                <a:ea typeface="Noto Sans CJK JP"/>
              </a:rPr>
              <a:t>分野イメージ</a:t>
            </a:r>
          </a:p>
        </p:txBody>
      </p:sp>
    </p:spTree>
  </p:cSld>
  <p:clrMapOvr>
    <a:masterClrMapping/>
  </p:clrMapOvr>
  <p:transition advClick="0" advTm="15000"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0B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0" y="1280160"/>
            <a:ext cx="4892040" cy="960120"/>
          </a:xfrm>
          <a:prstGeom prst="rect">
            <a:avLst/>
          </a:prstGeom>
          <a:solidFill>
            <a:srgbClr val="14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0" y="1280160"/>
            <a:ext cx="41148" cy="960120"/>
          </a:xfrm>
          <a:prstGeom prst="rect">
            <a:avLst/>
          </a:prstGeom>
          <a:solidFill>
            <a:srgbClr val="E5C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20840" y="1545336"/>
            <a:ext cx="42976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原稿</a:t>
            </a:r>
          </a:p>
        </p:txBody>
      </p:sp>
      <p:sp>
        <p:nvSpPr>
          <p:cNvPr id="6" name="Rectangle 5"/>
          <p:cNvSpPr/>
          <p:nvPr/>
        </p:nvSpPr>
        <p:spPr>
          <a:xfrm>
            <a:off x="8778240" y="2286000"/>
            <a:ext cx="22860" cy="320040"/>
          </a:xfrm>
          <a:prstGeom prst="rect">
            <a:avLst/>
          </a:prstGeom>
          <a:solidFill>
            <a:srgbClr val="E5C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0" y="2743200"/>
            <a:ext cx="4892040" cy="960120"/>
          </a:xfrm>
          <a:prstGeom prst="rect">
            <a:avLst/>
          </a:prstGeom>
          <a:solidFill>
            <a:srgbClr val="14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2743200"/>
            <a:ext cx="41148" cy="960120"/>
          </a:xfrm>
          <a:prstGeom prst="rect">
            <a:avLst/>
          </a:prstGeom>
          <a:solidFill>
            <a:srgbClr val="E5C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3008376"/>
            <a:ext cx="42976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デジタル編集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78240" y="3749039"/>
            <a:ext cx="22860" cy="320040"/>
          </a:xfrm>
          <a:prstGeom prst="rect">
            <a:avLst/>
          </a:prstGeom>
          <a:solidFill>
            <a:srgbClr val="E5C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4206240"/>
            <a:ext cx="4892040" cy="960120"/>
          </a:xfrm>
          <a:prstGeom prst="rect">
            <a:avLst/>
          </a:prstGeom>
          <a:solidFill>
            <a:srgbClr val="14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4206240"/>
            <a:ext cx="41148" cy="960120"/>
          </a:xfrm>
          <a:prstGeom prst="rect">
            <a:avLst/>
          </a:prstGeom>
          <a:solidFill>
            <a:srgbClr val="E5C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4471416"/>
            <a:ext cx="42976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製作物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1344168"/>
            <a:ext cx="457200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E5C27E"/>
                </a:solidFill>
                <a:latin typeface="Noto Sans CJK JP"/>
              </a:defRPr>
            </a:pPr>
            <a:r>
              <a:rPr>
                <a:ea typeface="Noto Sans CJK JP"/>
              </a:rPr>
              <a:t>1991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313432"/>
            <a:ext cx="4846320" cy="228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編集は、</a:t>
            </a:r>
          </a:p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デジタルの時代へ。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910328"/>
            <a:ext cx="4572000" cy="1005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CBD5E1"/>
                </a:solidFill>
                <a:latin typeface="Noto Sans CJK JP"/>
              </a:defRPr>
            </a:pPr>
            <a:r>
              <a:rPr>
                <a:ea typeface="Noto Sans CJK JP"/>
              </a:rPr>
              <a:t>DTPシステムを導入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236208"/>
            <a:ext cx="4206240" cy="10972"/>
          </a:xfrm>
          <a:prstGeom prst="rect">
            <a:avLst/>
          </a:prstGeom>
          <a:solidFill>
            <a:srgbClr val="294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6391656"/>
            <a:ext cx="4114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CBD5E1"/>
                </a:solidFill>
                <a:latin typeface="Noto Sans CJK JP"/>
              </a:defRPr>
            </a:pPr>
            <a:r>
              <a:rPr>
                <a:ea typeface="Noto Sans CJK JP"/>
              </a:rPr>
              <a:t>過去  /  11</a:t>
            </a:r>
          </a:p>
        </p:txBody>
      </p:sp>
    </p:spTree>
  </p:cSld>
  <p:clrMapOvr>
    <a:masterClrMapping/>
  </p:clrMapOvr>
  <p:transition advClick="0" advTm="15000"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0B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0" y="1280160"/>
            <a:ext cx="4892040" cy="960120"/>
          </a:xfrm>
          <a:prstGeom prst="rect">
            <a:avLst/>
          </a:prstGeom>
          <a:solidFill>
            <a:srgbClr val="14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0" y="1280160"/>
            <a:ext cx="41148" cy="960120"/>
          </a:xfrm>
          <a:prstGeom prst="rect">
            <a:avLst/>
          </a:prstGeom>
          <a:solidFill>
            <a:srgbClr val="E5C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20840" y="1545336"/>
            <a:ext cx="42976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情報</a:t>
            </a:r>
          </a:p>
        </p:txBody>
      </p:sp>
      <p:sp>
        <p:nvSpPr>
          <p:cNvPr id="6" name="Rectangle 5"/>
          <p:cNvSpPr/>
          <p:nvPr/>
        </p:nvSpPr>
        <p:spPr>
          <a:xfrm>
            <a:off x="8778240" y="2286000"/>
            <a:ext cx="22860" cy="320040"/>
          </a:xfrm>
          <a:prstGeom prst="rect">
            <a:avLst/>
          </a:prstGeom>
          <a:solidFill>
            <a:srgbClr val="E5C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0" y="2743200"/>
            <a:ext cx="4892040" cy="960120"/>
          </a:xfrm>
          <a:prstGeom prst="rect">
            <a:avLst/>
          </a:prstGeom>
          <a:solidFill>
            <a:srgbClr val="14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2743200"/>
            <a:ext cx="41148" cy="960120"/>
          </a:xfrm>
          <a:prstGeom prst="rect">
            <a:avLst/>
          </a:prstGeom>
          <a:solidFill>
            <a:srgbClr val="E5C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3008376"/>
            <a:ext cx="42976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構造化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78240" y="3749039"/>
            <a:ext cx="22860" cy="320040"/>
          </a:xfrm>
          <a:prstGeom prst="rect">
            <a:avLst/>
          </a:prstGeom>
          <a:solidFill>
            <a:srgbClr val="E5C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4206240"/>
            <a:ext cx="4892040" cy="960120"/>
          </a:xfrm>
          <a:prstGeom prst="rect">
            <a:avLst/>
          </a:prstGeom>
          <a:solidFill>
            <a:srgbClr val="14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4206240"/>
            <a:ext cx="41148" cy="960120"/>
          </a:xfrm>
          <a:prstGeom prst="rect">
            <a:avLst/>
          </a:prstGeom>
          <a:solidFill>
            <a:srgbClr val="E5C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4471416"/>
            <a:ext cx="42976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再利用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1344168"/>
            <a:ext cx="457200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E5C27E"/>
                </a:solidFill>
                <a:latin typeface="Noto Sans CJK JP"/>
              </a:defRPr>
            </a:pPr>
            <a:r>
              <a:rPr>
                <a:ea typeface="Noto Sans CJK JP"/>
              </a:rPr>
              <a:t>1995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313432"/>
            <a:ext cx="4846320" cy="228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情報を、</a:t>
            </a:r>
          </a:p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組み立てる。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910328"/>
            <a:ext cx="4572000" cy="1005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CBD5E1"/>
                </a:solidFill>
                <a:latin typeface="Noto Sans CJK JP"/>
              </a:defRPr>
            </a:pPr>
            <a:r>
              <a:rPr>
                <a:ea typeface="Noto Sans CJK JP"/>
              </a:rPr>
              <a:t>SGML処理・構造化・組版自動化への取り組み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236208"/>
            <a:ext cx="4206240" cy="10972"/>
          </a:xfrm>
          <a:prstGeom prst="rect">
            <a:avLst/>
          </a:prstGeom>
          <a:solidFill>
            <a:srgbClr val="294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6391656"/>
            <a:ext cx="4114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CBD5E1"/>
                </a:solidFill>
                <a:latin typeface="Noto Sans CJK JP"/>
              </a:defRPr>
            </a:pPr>
            <a:r>
              <a:rPr>
                <a:ea typeface="Noto Sans CJK JP"/>
              </a:rPr>
              <a:t>過去  /  12</a:t>
            </a:r>
          </a:p>
        </p:txBody>
      </p:sp>
    </p:spTree>
  </p:cSld>
  <p:clrMapOvr>
    <a:masterClrMapping/>
  </p:clrMapOvr>
  <p:transition advClick="0" advTm="15000"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3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ghter.png"/>
          <p:cNvPicPr>
            <a:picLocks noChangeAspect="1"/>
          </p:cNvPicPr>
          <p:nvPr/>
        </p:nvPicPr>
        <p:blipFill>
          <a:blip r:embed="rId2"/>
          <a:srcRect l="16482" r="16482"/>
          <a:stretch>
            <a:fillRect/>
          </a:stretch>
        </p:blipFill>
        <p:spPr>
          <a:xfrm>
            <a:off x="4023360" y="0"/>
            <a:ext cx="816863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0B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44168"/>
            <a:ext cx="457200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E5C27E"/>
                </a:solidFill>
                <a:latin typeface="Noto Sans CJK JP"/>
              </a:defRPr>
            </a:pPr>
            <a:r>
              <a:rPr>
                <a:ea typeface="Noto Sans CJK JP"/>
              </a:rPr>
              <a:t>2013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313432"/>
            <a:ext cx="4846320" cy="228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航空機マニュアルの</a:t>
            </a:r>
          </a:p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新たなかたち。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910328"/>
            <a:ext cx="4572000" cy="1005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CBD5E1"/>
                </a:solidFill>
                <a:latin typeface="Noto Sans CJK JP"/>
              </a:defRPr>
            </a:pPr>
            <a:r>
              <a:rPr>
                <a:ea typeface="Noto Sans CJK JP"/>
              </a:rPr>
              <a:t>S1000Dによる構造化</a:t>
            </a:r>
          </a:p>
          <a:p>
            <a:pPr>
              <a:spcAft>
                <a:spcPts val="800"/>
              </a:spcAft>
              <a:defRPr sz="1400" b="0">
                <a:solidFill>
                  <a:srgbClr val="CBD5E1"/>
                </a:solidFill>
                <a:latin typeface="Noto Sans CJK JP"/>
              </a:defRPr>
            </a:pPr>
            <a:r>
              <a:rPr>
                <a:ea typeface="Noto Sans CJK JP"/>
              </a:rPr>
              <a:t>電子化への対応を強化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236208"/>
            <a:ext cx="4206240" cy="10972"/>
          </a:xfrm>
          <a:prstGeom prst="rect">
            <a:avLst/>
          </a:prstGeom>
          <a:solidFill>
            <a:srgbClr val="294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391656"/>
            <a:ext cx="4114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CBD5E1"/>
                </a:solidFill>
                <a:latin typeface="Noto Sans CJK JP"/>
              </a:defRPr>
            </a:pPr>
            <a:r>
              <a:rPr>
                <a:ea typeface="Noto Sans CJK JP"/>
              </a:rPr>
              <a:t>過去  / 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10528"/>
            <a:ext cx="13716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CBD5E1"/>
                </a:solidFill>
                <a:latin typeface="Noto Sans CJK JP"/>
              </a:defRPr>
            </a:pPr>
            <a:r>
              <a:rPr>
                <a:ea typeface="Noto Sans CJK JP"/>
              </a:rPr>
              <a:t>分野イメージ</a:t>
            </a:r>
          </a:p>
        </p:txBody>
      </p:sp>
    </p:spTree>
  </p:cSld>
  <p:clrMapOvr>
    <a:masterClrMapping/>
  </p:clrMapOvr>
  <p:transition advClick="0" advTm="15000"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0B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0" y="1280160"/>
            <a:ext cx="4892040" cy="960120"/>
          </a:xfrm>
          <a:prstGeom prst="rect">
            <a:avLst/>
          </a:prstGeom>
          <a:solidFill>
            <a:srgbClr val="14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0" y="1280160"/>
            <a:ext cx="41148" cy="960120"/>
          </a:xfrm>
          <a:prstGeom prst="rect">
            <a:avLst/>
          </a:prstGeom>
          <a:solidFill>
            <a:srgbClr val="E5C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20840" y="1545336"/>
            <a:ext cx="42976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人の知見</a:t>
            </a:r>
          </a:p>
        </p:txBody>
      </p:sp>
      <p:sp>
        <p:nvSpPr>
          <p:cNvPr id="6" name="Rectangle 5"/>
          <p:cNvSpPr/>
          <p:nvPr/>
        </p:nvSpPr>
        <p:spPr>
          <a:xfrm>
            <a:off x="8778240" y="2286000"/>
            <a:ext cx="22860" cy="320040"/>
          </a:xfrm>
          <a:prstGeom prst="rect">
            <a:avLst/>
          </a:prstGeom>
          <a:solidFill>
            <a:srgbClr val="E5C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0" y="2743200"/>
            <a:ext cx="4892040" cy="960120"/>
          </a:xfrm>
          <a:prstGeom prst="rect">
            <a:avLst/>
          </a:prstGeom>
          <a:solidFill>
            <a:srgbClr val="14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2743200"/>
            <a:ext cx="41148" cy="960120"/>
          </a:xfrm>
          <a:prstGeom prst="rect">
            <a:avLst/>
          </a:prstGeom>
          <a:solidFill>
            <a:srgbClr val="E5C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3008376"/>
            <a:ext cx="42976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AI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78240" y="3749039"/>
            <a:ext cx="22860" cy="320040"/>
          </a:xfrm>
          <a:prstGeom prst="rect">
            <a:avLst/>
          </a:prstGeom>
          <a:solidFill>
            <a:srgbClr val="E5C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4206240"/>
            <a:ext cx="4892040" cy="960120"/>
          </a:xfrm>
          <a:prstGeom prst="rect">
            <a:avLst/>
          </a:prstGeom>
          <a:solidFill>
            <a:srgbClr val="14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4206240"/>
            <a:ext cx="41148" cy="960120"/>
          </a:xfrm>
          <a:prstGeom prst="rect">
            <a:avLst/>
          </a:prstGeom>
          <a:solidFill>
            <a:srgbClr val="E5C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4471416"/>
            <a:ext cx="42976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新しい可能性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1344168"/>
            <a:ext cx="457200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E5C27E"/>
                </a:solidFill>
                <a:latin typeface="Noto Sans CJK JP"/>
              </a:defRPr>
            </a:pPr>
            <a:r>
              <a:rPr>
                <a:ea typeface="Noto Sans CJK JP"/>
              </a:rPr>
              <a:t>2016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313432"/>
            <a:ext cx="4846320" cy="228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人の知見に、</a:t>
            </a:r>
          </a:p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AIの力を。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910328"/>
            <a:ext cx="4572000" cy="1005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CBD5E1"/>
                </a:solidFill>
                <a:latin typeface="Noto Sans CJK JP"/>
              </a:defRPr>
            </a:pPr>
            <a:r>
              <a:rPr>
                <a:ea typeface="Noto Sans CJK JP"/>
              </a:rPr>
              <a:t>AIを活用した事業への取り組み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236208"/>
            <a:ext cx="4206240" cy="10972"/>
          </a:xfrm>
          <a:prstGeom prst="rect">
            <a:avLst/>
          </a:prstGeom>
          <a:solidFill>
            <a:srgbClr val="294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6391656"/>
            <a:ext cx="4114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CBD5E1"/>
                </a:solidFill>
                <a:latin typeface="Noto Sans CJK JP"/>
              </a:defRPr>
            </a:pPr>
            <a:r>
              <a:rPr>
                <a:ea typeface="Noto Sans CJK JP"/>
              </a:rPr>
              <a:t>過去  /  14</a:t>
            </a:r>
          </a:p>
        </p:txBody>
      </p:sp>
    </p:spTree>
  </p:cSld>
  <p:clrMapOvr>
    <a:masterClrMapping/>
  </p:clrMapOvr>
  <p:transition advClick="0" advTm="15000"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3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hip.png"/>
          <p:cNvPicPr>
            <a:picLocks noChangeAspect="1"/>
          </p:cNvPicPr>
          <p:nvPr/>
        </p:nvPicPr>
        <p:blipFill>
          <a:blip r:embed="rId2"/>
          <a:srcRect l="16482" r="16482"/>
          <a:stretch>
            <a:fillRect/>
          </a:stretch>
        </p:blipFill>
        <p:spPr>
          <a:xfrm>
            <a:off x="4023360" y="0"/>
            <a:ext cx="816863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0B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44168"/>
            <a:ext cx="457200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E5C27E"/>
                </a:solidFill>
                <a:latin typeface="Noto Sans CJK JP"/>
              </a:defRPr>
            </a:pPr>
            <a:r>
              <a:rPr>
                <a:ea typeface="Noto Sans CJK JP"/>
              </a:rPr>
              <a:t>現在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313432"/>
            <a:ext cx="4846320" cy="228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いま、</a:t>
            </a:r>
          </a:p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私たちがつなぐもの。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910328"/>
            <a:ext cx="4572000" cy="1005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CBD5E1"/>
                </a:solidFill>
                <a:latin typeface="Noto Sans CJK JP"/>
              </a:defRPr>
            </a:pPr>
            <a:r>
              <a:rPr>
                <a:ea typeface="Noto Sans CJK JP"/>
              </a:rPr>
              <a:t>空、海、そして、ものづくりの現場へ。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236208"/>
            <a:ext cx="4206240" cy="10972"/>
          </a:xfrm>
          <a:prstGeom prst="rect">
            <a:avLst/>
          </a:prstGeom>
          <a:solidFill>
            <a:srgbClr val="294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391656"/>
            <a:ext cx="4114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CBD5E1"/>
                </a:solidFill>
                <a:latin typeface="Noto Sans CJK JP"/>
              </a:defRPr>
            </a:pPr>
            <a:r>
              <a:rPr>
                <a:ea typeface="Noto Sans CJK JP"/>
              </a:rPr>
              <a:t>現在  / 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10528"/>
            <a:ext cx="13716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CBD5E1"/>
                </a:solidFill>
                <a:latin typeface="Noto Sans CJK JP"/>
              </a:defRPr>
            </a:pPr>
            <a:r>
              <a:rPr>
                <a:ea typeface="Noto Sans CJK JP"/>
              </a:rPr>
              <a:t>分野イメージ</a:t>
            </a:r>
          </a:p>
        </p:txBody>
      </p:sp>
    </p:spTree>
  </p:cSld>
  <p:clrMapOvr>
    <a:masterClrMapping/>
  </p:clrMapOvr>
  <p:transition advClick="0" advTm="15000"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3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ghter.png"/>
          <p:cNvPicPr>
            <a:picLocks noChangeAspect="1"/>
          </p:cNvPicPr>
          <p:nvPr/>
        </p:nvPicPr>
        <p:blipFill>
          <a:blip r:embed="rId2"/>
          <a:srcRect l="16482" r="16482"/>
          <a:stretch>
            <a:fillRect/>
          </a:stretch>
        </p:blipFill>
        <p:spPr>
          <a:xfrm>
            <a:off x="4023360" y="0"/>
            <a:ext cx="816863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0B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44168"/>
            <a:ext cx="457200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E5C27E"/>
                </a:solidFill>
                <a:latin typeface="Noto Sans CJK JP"/>
              </a:defRPr>
            </a:pPr>
            <a:r>
              <a:rPr>
                <a:ea typeface="Noto Sans CJK JP"/>
              </a:rPr>
              <a:t>空を支える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313432"/>
            <a:ext cx="4846320" cy="228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空の技術を、</a:t>
            </a:r>
          </a:p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確かな情報で。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910328"/>
            <a:ext cx="4572000" cy="1005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CBD5E1"/>
                </a:solidFill>
                <a:latin typeface="Noto Sans CJK JP"/>
              </a:defRPr>
            </a:pPr>
            <a:r>
              <a:rPr>
                <a:ea typeface="Noto Sans CJK JP"/>
              </a:rPr>
              <a:t>航空機関連ドキュメント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236208"/>
            <a:ext cx="4206240" cy="10972"/>
          </a:xfrm>
          <a:prstGeom prst="rect">
            <a:avLst/>
          </a:prstGeom>
          <a:solidFill>
            <a:srgbClr val="294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391656"/>
            <a:ext cx="4114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CBD5E1"/>
                </a:solidFill>
                <a:latin typeface="Noto Sans CJK JP"/>
              </a:defRPr>
            </a:pPr>
            <a:r>
              <a:rPr>
                <a:ea typeface="Noto Sans CJK JP"/>
              </a:rPr>
              <a:t>現在  / 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10528"/>
            <a:ext cx="13716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CBD5E1"/>
                </a:solidFill>
                <a:latin typeface="Noto Sans CJK JP"/>
              </a:defRPr>
            </a:pPr>
            <a:r>
              <a:rPr>
                <a:ea typeface="Noto Sans CJK JP"/>
              </a:rPr>
              <a:t>分野イメージ</a:t>
            </a:r>
          </a:p>
        </p:txBody>
      </p:sp>
    </p:spTree>
  </p:cSld>
  <p:clrMapOvr>
    <a:masterClrMapping/>
  </p:clrMapOvr>
  <p:transition advClick="0" advTm="15000"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3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hip.png"/>
          <p:cNvPicPr>
            <a:picLocks noChangeAspect="1"/>
          </p:cNvPicPr>
          <p:nvPr/>
        </p:nvPicPr>
        <p:blipFill>
          <a:blip r:embed="rId2"/>
          <a:srcRect l="16482" r="16482"/>
          <a:stretch>
            <a:fillRect/>
          </a:stretch>
        </p:blipFill>
        <p:spPr>
          <a:xfrm>
            <a:off x="4023360" y="0"/>
            <a:ext cx="816863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0B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44168"/>
            <a:ext cx="457200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E5C27E"/>
                </a:solidFill>
                <a:latin typeface="Noto Sans CJK JP"/>
              </a:defRPr>
            </a:pPr>
            <a:r>
              <a:rPr>
                <a:ea typeface="Noto Sans CJK JP"/>
              </a:rPr>
              <a:t>海を支える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313432"/>
            <a:ext cx="4846320" cy="228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海の技術を、</a:t>
            </a:r>
          </a:p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確かな情報で。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910328"/>
            <a:ext cx="4572000" cy="1005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CBD5E1"/>
                </a:solidFill>
                <a:latin typeface="Noto Sans CJK JP"/>
              </a:defRPr>
            </a:pPr>
            <a:r>
              <a:rPr>
                <a:ea typeface="Noto Sans CJK JP"/>
              </a:rPr>
              <a:t>艦船関連ドキュメント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236208"/>
            <a:ext cx="4206240" cy="10972"/>
          </a:xfrm>
          <a:prstGeom prst="rect">
            <a:avLst/>
          </a:prstGeom>
          <a:solidFill>
            <a:srgbClr val="294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391656"/>
            <a:ext cx="4114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CBD5E1"/>
                </a:solidFill>
                <a:latin typeface="Noto Sans CJK JP"/>
              </a:defRPr>
            </a:pPr>
            <a:r>
              <a:rPr>
                <a:ea typeface="Noto Sans CJK JP"/>
              </a:rPr>
              <a:t>現在  / 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10528"/>
            <a:ext cx="13716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CBD5E1"/>
                </a:solidFill>
                <a:latin typeface="Noto Sans CJK JP"/>
              </a:defRPr>
            </a:pPr>
            <a:r>
              <a:rPr>
                <a:ea typeface="Noto Sans CJK JP"/>
              </a:rPr>
              <a:t>分野イメージ</a:t>
            </a:r>
          </a:p>
        </p:txBody>
      </p:sp>
    </p:spTree>
  </p:cSld>
  <p:clrMapOvr>
    <a:masterClrMapping/>
  </p:clrMapOvr>
  <p:transition advClick="0" advTm="15000"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3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xcavator.png"/>
          <p:cNvPicPr>
            <a:picLocks noChangeAspect="1"/>
          </p:cNvPicPr>
          <p:nvPr/>
        </p:nvPicPr>
        <p:blipFill>
          <a:blip r:embed="rId2"/>
          <a:srcRect l="16482" r="16482"/>
          <a:stretch>
            <a:fillRect/>
          </a:stretch>
        </p:blipFill>
        <p:spPr>
          <a:xfrm>
            <a:off x="4023360" y="0"/>
            <a:ext cx="816863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0B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44168"/>
            <a:ext cx="457200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E5C27E"/>
                </a:solidFill>
                <a:latin typeface="Noto Sans CJK JP"/>
              </a:defRPr>
            </a:pPr>
            <a:r>
              <a:rPr>
                <a:ea typeface="Noto Sans CJK JP"/>
              </a:rPr>
              <a:t>現場を支える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313432"/>
            <a:ext cx="4846320" cy="228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現場を動かす</a:t>
            </a:r>
          </a:p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技術を、伝える。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910328"/>
            <a:ext cx="4572000" cy="1005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CBD5E1"/>
                </a:solidFill>
                <a:latin typeface="Noto Sans CJK JP"/>
              </a:defRPr>
            </a:pPr>
            <a:r>
              <a:rPr>
                <a:ea typeface="Noto Sans CJK JP"/>
              </a:rPr>
              <a:t>建設機械・自動車のマニュアル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236208"/>
            <a:ext cx="4206240" cy="10972"/>
          </a:xfrm>
          <a:prstGeom prst="rect">
            <a:avLst/>
          </a:prstGeom>
          <a:solidFill>
            <a:srgbClr val="294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391656"/>
            <a:ext cx="4114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CBD5E1"/>
                </a:solidFill>
                <a:latin typeface="Noto Sans CJK JP"/>
              </a:defRPr>
            </a:pPr>
            <a:r>
              <a:rPr>
                <a:ea typeface="Noto Sans CJK JP"/>
              </a:rPr>
              <a:t>現在  / 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10528"/>
            <a:ext cx="13716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CBD5E1"/>
                </a:solidFill>
                <a:latin typeface="Noto Sans CJK JP"/>
              </a:defRPr>
            </a:pPr>
            <a:r>
              <a:rPr>
                <a:ea typeface="Noto Sans CJK JP"/>
              </a:rPr>
              <a:t>分野イメージ</a:t>
            </a:r>
          </a:p>
        </p:txBody>
      </p:sp>
    </p:spTree>
  </p:cSld>
  <p:clrMapOvr>
    <a:masterClrMapping/>
  </p:clrMapOvr>
  <p:transition advClick="0" advTm="15000" spd="med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0B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0" y="1280160"/>
            <a:ext cx="4892040" cy="960120"/>
          </a:xfrm>
          <a:prstGeom prst="rect">
            <a:avLst/>
          </a:prstGeom>
          <a:solidFill>
            <a:srgbClr val="14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0" y="1280160"/>
            <a:ext cx="41148" cy="960120"/>
          </a:xfrm>
          <a:prstGeom prst="rect">
            <a:avLst/>
          </a:prstGeom>
          <a:solidFill>
            <a:srgbClr val="E5C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20840" y="1545336"/>
            <a:ext cx="42976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つくる人</a:t>
            </a:r>
          </a:p>
        </p:txBody>
      </p:sp>
      <p:sp>
        <p:nvSpPr>
          <p:cNvPr id="6" name="Rectangle 5"/>
          <p:cNvSpPr/>
          <p:nvPr/>
        </p:nvSpPr>
        <p:spPr>
          <a:xfrm>
            <a:off x="8778240" y="2286000"/>
            <a:ext cx="22860" cy="320040"/>
          </a:xfrm>
          <a:prstGeom prst="rect">
            <a:avLst/>
          </a:prstGeom>
          <a:solidFill>
            <a:srgbClr val="E5C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0" y="2743200"/>
            <a:ext cx="4892040" cy="960120"/>
          </a:xfrm>
          <a:prstGeom prst="rect">
            <a:avLst/>
          </a:prstGeom>
          <a:solidFill>
            <a:srgbClr val="14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2743200"/>
            <a:ext cx="41148" cy="960120"/>
          </a:xfrm>
          <a:prstGeom prst="rect">
            <a:avLst/>
          </a:prstGeom>
          <a:solidFill>
            <a:srgbClr val="E5C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3008376"/>
            <a:ext cx="42976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伝える情報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78240" y="3749039"/>
            <a:ext cx="22860" cy="320040"/>
          </a:xfrm>
          <a:prstGeom prst="rect">
            <a:avLst/>
          </a:prstGeom>
          <a:solidFill>
            <a:srgbClr val="E5C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4206240"/>
            <a:ext cx="4892040" cy="960120"/>
          </a:xfrm>
          <a:prstGeom prst="rect">
            <a:avLst/>
          </a:prstGeom>
          <a:solidFill>
            <a:srgbClr val="14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4206240"/>
            <a:ext cx="41148" cy="960120"/>
          </a:xfrm>
          <a:prstGeom prst="rect">
            <a:avLst/>
          </a:prstGeom>
          <a:solidFill>
            <a:srgbClr val="E5C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4471416"/>
            <a:ext cx="42976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つかう人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1344168"/>
            <a:ext cx="457200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E5C27E"/>
                </a:solidFill>
                <a:latin typeface="Noto Sans CJK JP"/>
              </a:defRPr>
            </a:pPr>
            <a:r>
              <a:rPr>
                <a:ea typeface="Noto Sans CJK JP"/>
              </a:rPr>
              <a:t>変わらない役割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313432"/>
            <a:ext cx="4846320" cy="228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つくる人と、</a:t>
            </a:r>
          </a:p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つかう人をつなぐ。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910328"/>
            <a:ext cx="4572000" cy="1005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CBD5E1"/>
                </a:solidFill>
                <a:latin typeface="Noto Sans CJK JP"/>
              </a:defRPr>
            </a:pPr>
            <a:r>
              <a:rPr>
                <a:ea typeface="Noto Sans CJK JP"/>
              </a:rPr>
              <a:t>マニュアル製作・翻訳・イラストレーション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236208"/>
            <a:ext cx="4206240" cy="10972"/>
          </a:xfrm>
          <a:prstGeom prst="rect">
            <a:avLst/>
          </a:prstGeom>
          <a:solidFill>
            <a:srgbClr val="294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6391656"/>
            <a:ext cx="4114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CBD5E1"/>
                </a:solidFill>
                <a:latin typeface="Noto Sans CJK JP"/>
              </a:defRPr>
            </a:pPr>
            <a:r>
              <a:rPr>
                <a:ea typeface="Noto Sans CJK JP"/>
              </a:rPr>
              <a:t>現在  /  19</a:t>
            </a:r>
          </a:p>
        </p:txBody>
      </p:sp>
    </p:spTree>
  </p:cSld>
  <p:clrMapOvr>
    <a:masterClrMapping/>
  </p:clrMapOvr>
  <p:transition advClick="0" advTm="15000" spd="med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0B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0" y="1280160"/>
            <a:ext cx="4892040" cy="960120"/>
          </a:xfrm>
          <a:prstGeom prst="rect">
            <a:avLst/>
          </a:prstGeom>
          <a:solidFill>
            <a:srgbClr val="14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0" y="1280160"/>
            <a:ext cx="41148" cy="960120"/>
          </a:xfrm>
          <a:prstGeom prst="rect">
            <a:avLst/>
          </a:prstGeom>
          <a:solidFill>
            <a:srgbClr val="E5C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20840" y="1545336"/>
            <a:ext cx="42976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確認</a:t>
            </a:r>
          </a:p>
        </p:txBody>
      </p:sp>
      <p:sp>
        <p:nvSpPr>
          <p:cNvPr id="6" name="Rectangle 5"/>
          <p:cNvSpPr/>
          <p:nvPr/>
        </p:nvSpPr>
        <p:spPr>
          <a:xfrm>
            <a:off x="8778240" y="2286000"/>
            <a:ext cx="22860" cy="320040"/>
          </a:xfrm>
          <a:prstGeom prst="rect">
            <a:avLst/>
          </a:prstGeom>
          <a:solidFill>
            <a:srgbClr val="E5C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0" y="2743200"/>
            <a:ext cx="4892040" cy="960120"/>
          </a:xfrm>
          <a:prstGeom prst="rect">
            <a:avLst/>
          </a:prstGeom>
          <a:solidFill>
            <a:srgbClr val="14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2743200"/>
            <a:ext cx="41148" cy="960120"/>
          </a:xfrm>
          <a:prstGeom prst="rect">
            <a:avLst/>
          </a:prstGeom>
          <a:solidFill>
            <a:srgbClr val="E5C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3008376"/>
            <a:ext cx="42976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品質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78240" y="3749039"/>
            <a:ext cx="22860" cy="320040"/>
          </a:xfrm>
          <a:prstGeom prst="rect">
            <a:avLst/>
          </a:prstGeom>
          <a:solidFill>
            <a:srgbClr val="E5C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4206240"/>
            <a:ext cx="4892040" cy="960120"/>
          </a:xfrm>
          <a:prstGeom prst="rect">
            <a:avLst/>
          </a:prstGeom>
          <a:solidFill>
            <a:srgbClr val="14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4206240"/>
            <a:ext cx="41148" cy="960120"/>
          </a:xfrm>
          <a:prstGeom prst="rect">
            <a:avLst/>
          </a:prstGeom>
          <a:solidFill>
            <a:srgbClr val="E5C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4471416"/>
            <a:ext cx="42976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信頼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1344168"/>
            <a:ext cx="457200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E5C27E"/>
                </a:solidFill>
                <a:latin typeface="Noto Sans CJK JP"/>
              </a:defRPr>
            </a:pPr>
            <a:r>
              <a:rPr>
                <a:ea typeface="Noto Sans CJK JP"/>
              </a:rPr>
              <a:t>品質と信頼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313432"/>
            <a:ext cx="4846320" cy="228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確かな仕事を、</a:t>
            </a:r>
          </a:p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積み重ねる。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910328"/>
            <a:ext cx="4572000" cy="1005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CBD5E1"/>
                </a:solidFill>
                <a:latin typeface="Noto Sans CJK JP"/>
              </a:defRPr>
            </a:pPr>
            <a:r>
              <a:rPr>
                <a:ea typeface="Noto Sans CJK JP"/>
              </a:rPr>
              <a:t>品質管理と情報セキュリティ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236208"/>
            <a:ext cx="4206240" cy="10972"/>
          </a:xfrm>
          <a:prstGeom prst="rect">
            <a:avLst/>
          </a:prstGeom>
          <a:solidFill>
            <a:srgbClr val="294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6391656"/>
            <a:ext cx="4114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CBD5E1"/>
                </a:solidFill>
                <a:latin typeface="Noto Sans CJK JP"/>
              </a:defRPr>
            </a:pPr>
            <a:r>
              <a:rPr>
                <a:ea typeface="Noto Sans CJK JP"/>
              </a:rPr>
              <a:t>現在  /  20</a:t>
            </a:r>
          </a:p>
        </p:txBody>
      </p:sp>
    </p:spTree>
  </p:cSld>
  <p:clrMapOvr>
    <a:masterClrMapping/>
  </p:clrMapOvr>
  <p:transition advClick="0" advTm="15000" spd="med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0B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0" y="1280160"/>
            <a:ext cx="4892040" cy="960120"/>
          </a:xfrm>
          <a:prstGeom prst="rect">
            <a:avLst/>
          </a:prstGeom>
          <a:solidFill>
            <a:srgbClr val="14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0" y="1280160"/>
            <a:ext cx="41148" cy="960120"/>
          </a:xfrm>
          <a:prstGeom prst="rect">
            <a:avLst/>
          </a:prstGeom>
          <a:solidFill>
            <a:srgbClr val="E5C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20840" y="1545336"/>
            <a:ext cx="42976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機械翻訳</a:t>
            </a:r>
          </a:p>
        </p:txBody>
      </p:sp>
      <p:sp>
        <p:nvSpPr>
          <p:cNvPr id="6" name="Rectangle 5"/>
          <p:cNvSpPr/>
          <p:nvPr/>
        </p:nvSpPr>
        <p:spPr>
          <a:xfrm>
            <a:off x="8778240" y="2286000"/>
            <a:ext cx="22860" cy="320040"/>
          </a:xfrm>
          <a:prstGeom prst="rect">
            <a:avLst/>
          </a:prstGeom>
          <a:solidFill>
            <a:srgbClr val="E5C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0" y="2743200"/>
            <a:ext cx="4892040" cy="960120"/>
          </a:xfrm>
          <a:prstGeom prst="rect">
            <a:avLst/>
          </a:prstGeom>
          <a:solidFill>
            <a:srgbClr val="14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2743200"/>
            <a:ext cx="41148" cy="960120"/>
          </a:xfrm>
          <a:prstGeom prst="rect">
            <a:avLst/>
          </a:prstGeom>
          <a:solidFill>
            <a:srgbClr val="E5C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3008376"/>
            <a:ext cx="42976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人の確認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78240" y="3749039"/>
            <a:ext cx="22860" cy="320040"/>
          </a:xfrm>
          <a:prstGeom prst="rect">
            <a:avLst/>
          </a:prstGeom>
          <a:solidFill>
            <a:srgbClr val="E5C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4206240"/>
            <a:ext cx="4892040" cy="960120"/>
          </a:xfrm>
          <a:prstGeom prst="rect">
            <a:avLst/>
          </a:prstGeom>
          <a:solidFill>
            <a:srgbClr val="14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4206240"/>
            <a:ext cx="41148" cy="960120"/>
          </a:xfrm>
          <a:prstGeom prst="rect">
            <a:avLst/>
          </a:prstGeom>
          <a:solidFill>
            <a:srgbClr val="E5C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4471416"/>
            <a:ext cx="42976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品質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1344168"/>
            <a:ext cx="457200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E5C27E"/>
                </a:solidFill>
                <a:latin typeface="Noto Sans CJK JP"/>
              </a:defRPr>
            </a:pPr>
            <a:r>
              <a:rPr>
                <a:ea typeface="Noto Sans CJK JP"/>
              </a:rPr>
              <a:t>人とAI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313432"/>
            <a:ext cx="4846320" cy="228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技術を活かす。</a:t>
            </a:r>
          </a:p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品質は、人が支える。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910328"/>
            <a:ext cx="4572000" cy="1005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CBD5E1"/>
                </a:solidFill>
                <a:latin typeface="Noto Sans CJK JP"/>
              </a:defRPr>
            </a:pPr>
            <a:r>
              <a:rPr>
                <a:ea typeface="Noto Sans CJK JP"/>
              </a:rPr>
              <a:t>機械翻訳と人によるポストエディット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236208"/>
            <a:ext cx="4206240" cy="10972"/>
          </a:xfrm>
          <a:prstGeom prst="rect">
            <a:avLst/>
          </a:prstGeom>
          <a:solidFill>
            <a:srgbClr val="294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6391656"/>
            <a:ext cx="4114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CBD5E1"/>
                </a:solidFill>
                <a:latin typeface="Noto Sans CJK JP"/>
              </a:defRPr>
            </a:pPr>
            <a:r>
              <a:rPr>
                <a:ea typeface="Noto Sans CJK JP"/>
              </a:rPr>
              <a:t>現在  /  21</a:t>
            </a:r>
          </a:p>
        </p:txBody>
      </p:sp>
    </p:spTree>
  </p:cSld>
  <p:clrMapOvr>
    <a:masterClrMapping/>
  </p:clrMapOvr>
  <p:transition advClick="0" advTm="15000" spd="med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0B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0" y="1280160"/>
            <a:ext cx="4892040" cy="960120"/>
          </a:xfrm>
          <a:prstGeom prst="rect">
            <a:avLst/>
          </a:prstGeom>
          <a:solidFill>
            <a:srgbClr val="14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0" y="1280160"/>
            <a:ext cx="41148" cy="960120"/>
          </a:xfrm>
          <a:prstGeom prst="rect">
            <a:avLst/>
          </a:prstGeom>
          <a:solidFill>
            <a:srgbClr val="E5C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20840" y="1545336"/>
            <a:ext cx="42976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技術と経験</a:t>
            </a:r>
          </a:p>
        </p:txBody>
      </p:sp>
      <p:sp>
        <p:nvSpPr>
          <p:cNvPr id="6" name="Rectangle 5"/>
          <p:cNvSpPr/>
          <p:nvPr/>
        </p:nvSpPr>
        <p:spPr>
          <a:xfrm>
            <a:off x="8778240" y="2286000"/>
            <a:ext cx="22860" cy="320040"/>
          </a:xfrm>
          <a:prstGeom prst="rect">
            <a:avLst/>
          </a:prstGeom>
          <a:solidFill>
            <a:srgbClr val="E5C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0" y="2743200"/>
            <a:ext cx="4892040" cy="960120"/>
          </a:xfrm>
          <a:prstGeom prst="rect">
            <a:avLst/>
          </a:prstGeom>
          <a:solidFill>
            <a:srgbClr val="14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2743200"/>
            <a:ext cx="41148" cy="960120"/>
          </a:xfrm>
          <a:prstGeom prst="rect">
            <a:avLst/>
          </a:prstGeom>
          <a:solidFill>
            <a:srgbClr val="E5C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3008376"/>
            <a:ext cx="42976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新たな体制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78240" y="3749039"/>
            <a:ext cx="22860" cy="320040"/>
          </a:xfrm>
          <a:prstGeom prst="rect">
            <a:avLst/>
          </a:prstGeom>
          <a:solidFill>
            <a:srgbClr val="E5C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4206240"/>
            <a:ext cx="4892040" cy="960120"/>
          </a:xfrm>
          <a:prstGeom prst="rect">
            <a:avLst/>
          </a:prstGeom>
          <a:solidFill>
            <a:srgbClr val="14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4206240"/>
            <a:ext cx="41148" cy="960120"/>
          </a:xfrm>
          <a:prstGeom prst="rect">
            <a:avLst/>
          </a:prstGeom>
          <a:solidFill>
            <a:srgbClr val="E5C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4471416"/>
            <a:ext cx="42976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次の成長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1344168"/>
            <a:ext cx="457200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E5C27E"/>
                </a:solidFill>
                <a:latin typeface="Noto Sans CJK JP"/>
              </a:defRPr>
            </a:pPr>
            <a:r>
              <a:rPr>
                <a:ea typeface="Noto Sans CJK JP"/>
              </a:rPr>
              <a:t>2024 — 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313432"/>
            <a:ext cx="4846320" cy="228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新たな体制で、</a:t>
            </a:r>
          </a:p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次の一歩へ。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910328"/>
            <a:ext cx="4572000" cy="1005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CBD5E1"/>
                </a:solidFill>
                <a:latin typeface="Noto Sans CJK JP"/>
              </a:defRPr>
            </a:pPr>
            <a:r>
              <a:rPr>
                <a:ea typeface="Noto Sans CJK JP"/>
              </a:rPr>
              <a:t>Tra-verse設立・伝株式会社の合併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236208"/>
            <a:ext cx="4206240" cy="10972"/>
          </a:xfrm>
          <a:prstGeom prst="rect">
            <a:avLst/>
          </a:prstGeom>
          <a:solidFill>
            <a:srgbClr val="294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6391656"/>
            <a:ext cx="4114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CBD5E1"/>
                </a:solidFill>
                <a:latin typeface="Noto Sans CJK JP"/>
              </a:defRPr>
            </a:pPr>
            <a:r>
              <a:rPr>
                <a:ea typeface="Noto Sans CJK JP"/>
              </a:rPr>
              <a:t>現在  /  22</a:t>
            </a:r>
          </a:p>
        </p:txBody>
      </p:sp>
    </p:spTree>
  </p:cSld>
  <p:clrMapOvr>
    <a:masterClrMapping/>
  </p:clrMapOvr>
  <p:transition advClick="0" advTm="15000" spd="med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3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1.jpg"/>
          <p:cNvPicPr>
            <a:picLocks noChangeAspect="1"/>
          </p:cNvPicPr>
          <p:nvPr/>
        </p:nvPicPr>
        <p:blipFill>
          <a:blip r:embed="rId2"/>
          <a:srcRect l="10296" r="10296"/>
          <a:stretch>
            <a:fillRect/>
          </a:stretch>
        </p:blipFill>
        <p:spPr>
          <a:xfrm>
            <a:off x="4023360" y="0"/>
            <a:ext cx="816863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0B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44168"/>
            <a:ext cx="457200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E5C27E"/>
                </a:solidFill>
                <a:latin typeface="Noto Sans CJK JP"/>
              </a:defRPr>
            </a:pPr>
            <a:r>
              <a:rPr>
                <a:ea typeface="Noto Sans CJK JP"/>
              </a:rPr>
              <a:t>未来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313432"/>
            <a:ext cx="4846320" cy="228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次の時代へ。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910328"/>
            <a:ext cx="4572000" cy="1005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CBD5E1"/>
                </a:solidFill>
                <a:latin typeface="Noto Sans CJK JP"/>
              </a:defRPr>
            </a:pPr>
            <a:r>
              <a:rPr>
                <a:ea typeface="Noto Sans CJK JP"/>
              </a:rPr>
              <a:t>変わらない想いと、新しい挑戦。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236208"/>
            <a:ext cx="4206240" cy="10972"/>
          </a:xfrm>
          <a:prstGeom prst="rect">
            <a:avLst/>
          </a:prstGeom>
          <a:solidFill>
            <a:srgbClr val="294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391656"/>
            <a:ext cx="4114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CBD5E1"/>
                </a:solidFill>
                <a:latin typeface="Noto Sans CJK JP"/>
              </a:defRPr>
            </a:pPr>
            <a:r>
              <a:rPr>
                <a:ea typeface="Noto Sans CJK JP"/>
              </a:rPr>
              <a:t>未来  /  23</a:t>
            </a:r>
          </a:p>
        </p:txBody>
      </p:sp>
    </p:spTree>
  </p:cSld>
  <p:clrMapOvr>
    <a:masterClrMapping/>
  </p:clrMapOvr>
  <p:transition advClick="0" advTm="15000" spd="med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3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r.png"/>
          <p:cNvPicPr>
            <a:picLocks noChangeAspect="1"/>
          </p:cNvPicPr>
          <p:nvPr/>
        </p:nvPicPr>
        <p:blipFill>
          <a:blip r:embed="rId2"/>
          <a:srcRect l="16518" r="16518"/>
          <a:stretch>
            <a:fillRect/>
          </a:stretch>
        </p:blipFill>
        <p:spPr>
          <a:xfrm>
            <a:off x="4023360" y="0"/>
            <a:ext cx="816863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0B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44168"/>
            <a:ext cx="457200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E5C27E"/>
                </a:solidFill>
                <a:latin typeface="Noto Sans CJK JP"/>
              </a:defRPr>
            </a:pPr>
            <a:r>
              <a:rPr>
                <a:ea typeface="Noto Sans CJK JP"/>
              </a:rPr>
              <a:t>必要な情報を、必要なタイミングで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313432"/>
            <a:ext cx="4846320" cy="228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伝わる先に、</a:t>
            </a:r>
          </a:p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人がいる。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910328"/>
            <a:ext cx="4572000" cy="1005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CBD5E1"/>
                </a:solidFill>
                <a:latin typeface="Noto Sans CJK JP"/>
              </a:defRPr>
            </a:pPr>
            <a:r>
              <a:rPr>
                <a:ea typeface="Noto Sans CJK JP"/>
              </a:rPr>
              <a:t>安全で、わかりやすい情報を届けるために。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236208"/>
            <a:ext cx="4206240" cy="10972"/>
          </a:xfrm>
          <a:prstGeom prst="rect">
            <a:avLst/>
          </a:prstGeom>
          <a:solidFill>
            <a:srgbClr val="294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391656"/>
            <a:ext cx="4114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CBD5E1"/>
                </a:solidFill>
                <a:latin typeface="Noto Sans CJK JP"/>
              </a:defRPr>
            </a:pPr>
            <a:r>
              <a:rPr>
                <a:ea typeface="Noto Sans CJK JP"/>
              </a:rPr>
              <a:t>未来  /  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10528"/>
            <a:ext cx="13716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CBD5E1"/>
                </a:solidFill>
                <a:latin typeface="Noto Sans CJK JP"/>
              </a:defRPr>
            </a:pPr>
            <a:r>
              <a:rPr>
                <a:ea typeface="Noto Sans CJK JP"/>
              </a:rPr>
              <a:t>分野イメージ</a:t>
            </a:r>
          </a:p>
        </p:txBody>
      </p:sp>
    </p:spTree>
  </p:cSld>
  <p:clrMapOvr>
    <a:masterClrMapping/>
  </p:clrMapOvr>
  <p:transition advClick="0" advTm="15000" spd="med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0B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0" y="1280160"/>
            <a:ext cx="4892040" cy="960120"/>
          </a:xfrm>
          <a:prstGeom prst="rect">
            <a:avLst/>
          </a:prstGeom>
          <a:solidFill>
            <a:srgbClr val="14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0" y="1280160"/>
            <a:ext cx="41148" cy="960120"/>
          </a:xfrm>
          <a:prstGeom prst="rect">
            <a:avLst/>
          </a:prstGeom>
          <a:solidFill>
            <a:srgbClr val="E5C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20840" y="1545336"/>
            <a:ext cx="42976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マニュアル</a:t>
            </a:r>
          </a:p>
        </p:txBody>
      </p:sp>
      <p:sp>
        <p:nvSpPr>
          <p:cNvPr id="6" name="Rectangle 5"/>
          <p:cNvSpPr/>
          <p:nvPr/>
        </p:nvSpPr>
        <p:spPr>
          <a:xfrm>
            <a:off x="8778240" y="2286000"/>
            <a:ext cx="22860" cy="320040"/>
          </a:xfrm>
          <a:prstGeom prst="rect">
            <a:avLst/>
          </a:prstGeom>
          <a:solidFill>
            <a:srgbClr val="E5C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0" y="2743200"/>
            <a:ext cx="4892040" cy="960120"/>
          </a:xfrm>
          <a:prstGeom prst="rect">
            <a:avLst/>
          </a:prstGeom>
          <a:solidFill>
            <a:srgbClr val="14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2743200"/>
            <a:ext cx="41148" cy="960120"/>
          </a:xfrm>
          <a:prstGeom prst="rect">
            <a:avLst/>
          </a:prstGeom>
          <a:solidFill>
            <a:srgbClr val="E5C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3008376"/>
            <a:ext cx="42976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翻訳・支援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78240" y="3749039"/>
            <a:ext cx="22860" cy="320040"/>
          </a:xfrm>
          <a:prstGeom prst="rect">
            <a:avLst/>
          </a:prstGeom>
          <a:solidFill>
            <a:srgbClr val="E5C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4206240"/>
            <a:ext cx="4892040" cy="960120"/>
          </a:xfrm>
          <a:prstGeom prst="rect">
            <a:avLst/>
          </a:prstGeom>
          <a:solidFill>
            <a:srgbClr val="14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4206240"/>
            <a:ext cx="41148" cy="960120"/>
          </a:xfrm>
          <a:prstGeom prst="rect">
            <a:avLst/>
          </a:prstGeom>
          <a:solidFill>
            <a:srgbClr val="E5C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4471416"/>
            <a:ext cx="42976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お客様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1344168"/>
            <a:ext cx="457200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E5C27E"/>
                </a:solidFill>
                <a:latin typeface="Noto Sans CJK JP"/>
              </a:defRPr>
            </a:pPr>
            <a:r>
              <a:rPr>
                <a:ea typeface="Noto Sans CJK JP"/>
              </a:rPr>
              <a:t>私たちのミッション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313432"/>
            <a:ext cx="4846320" cy="228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「伝わる」を</a:t>
            </a:r>
          </a:p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デザインする。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910328"/>
            <a:ext cx="4572000" cy="1005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CBD5E1"/>
                </a:solidFill>
                <a:latin typeface="Noto Sans CJK JP"/>
              </a:defRPr>
            </a:pPr>
            <a:r>
              <a:rPr>
                <a:ea typeface="Noto Sans CJK JP"/>
              </a:rPr>
              <a:t>ワンストップで、継続的に提供する。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236208"/>
            <a:ext cx="4206240" cy="10972"/>
          </a:xfrm>
          <a:prstGeom prst="rect">
            <a:avLst/>
          </a:prstGeom>
          <a:solidFill>
            <a:srgbClr val="294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6391656"/>
            <a:ext cx="4114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CBD5E1"/>
                </a:solidFill>
                <a:latin typeface="Noto Sans CJK JP"/>
              </a:defRPr>
            </a:pPr>
            <a:r>
              <a:rPr>
                <a:ea typeface="Noto Sans CJK JP"/>
              </a:rPr>
              <a:t>未来  /  25</a:t>
            </a:r>
          </a:p>
        </p:txBody>
      </p:sp>
    </p:spTree>
  </p:cSld>
  <p:clrMapOvr>
    <a:masterClrMapping/>
  </p:clrMapOvr>
  <p:transition advClick="0" advTm="15000" spd="med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3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179600"/>
            <a:ext cx="6675120" cy="44530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0B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44168"/>
            <a:ext cx="457200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E5C27E"/>
                </a:solidFill>
                <a:latin typeface="Noto Sans CJK JP"/>
              </a:defRPr>
            </a:pPr>
            <a:r>
              <a:rPr>
                <a:ea typeface="Noto Sans CJK JP"/>
              </a:rPr>
              <a:t>これからも、共に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313432"/>
            <a:ext cx="4846320" cy="228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共に成長する</a:t>
            </a:r>
          </a:p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未来を。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36208"/>
            <a:ext cx="4206240" cy="10972"/>
          </a:xfrm>
          <a:prstGeom prst="rect">
            <a:avLst/>
          </a:prstGeom>
          <a:solidFill>
            <a:srgbClr val="294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391656"/>
            <a:ext cx="4114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CBD5E1"/>
                </a:solidFill>
                <a:latin typeface="Noto Sans CJK JP"/>
              </a:defRPr>
            </a:pPr>
            <a:r>
              <a:rPr>
                <a:ea typeface="Noto Sans CJK JP"/>
              </a:rPr>
              <a:t>未来  /  26</a:t>
            </a:r>
          </a:p>
        </p:txBody>
      </p:sp>
    </p:spTree>
  </p:cSld>
  <p:clrMapOvr>
    <a:masterClrMapping/>
  </p:clrMapOvr>
  <p:transition advClick="0" advTm="15000" spd="med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3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903475"/>
            <a:ext cx="6675120" cy="500532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0B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44168"/>
            <a:ext cx="457200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E5C27E"/>
                </a:solidFill>
                <a:latin typeface="Noto Sans CJK JP"/>
              </a:defRPr>
            </a:pPr>
            <a:r>
              <a:rPr>
                <a:ea typeface="Noto Sans CJK JP"/>
              </a:rPr>
              <a:t>信頼を、未来へ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313432"/>
            <a:ext cx="4846320" cy="228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お客様、社員、</a:t>
            </a:r>
          </a:p>
          <a:p>
            <a:pPr>
              <a:spcAft>
                <a:spcPts val="800"/>
              </a:spcAft>
              <a:defRPr sz="29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パートナーの皆さまと。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36208"/>
            <a:ext cx="4206240" cy="10972"/>
          </a:xfrm>
          <a:prstGeom prst="rect">
            <a:avLst/>
          </a:prstGeom>
          <a:solidFill>
            <a:srgbClr val="294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391656"/>
            <a:ext cx="4114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CBD5E1"/>
                </a:solidFill>
                <a:latin typeface="Noto Sans CJK JP"/>
              </a:defRPr>
            </a:pPr>
            <a:r>
              <a:rPr>
                <a:ea typeface="Noto Sans CJK JP"/>
              </a:rPr>
              <a:t>未来  /  27</a:t>
            </a:r>
          </a:p>
        </p:txBody>
      </p:sp>
    </p:spTree>
  </p:cSld>
  <p:clrMapOvr>
    <a:masterClrMapping/>
  </p:clrMapOvr>
  <p:transition advClick="0" advTm="15000" spd="med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3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1.jpg"/>
          <p:cNvPicPr>
            <a:picLocks noChangeAspect="1"/>
          </p:cNvPicPr>
          <p:nvPr/>
        </p:nvPicPr>
        <p:blipFill>
          <a:blip r:embed="rId2"/>
          <a:srcRect l="10296" r="10296"/>
          <a:stretch>
            <a:fillRect/>
          </a:stretch>
        </p:blipFill>
        <p:spPr>
          <a:xfrm>
            <a:off x="4023360" y="0"/>
            <a:ext cx="816863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0B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44168"/>
            <a:ext cx="457200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E5C27E"/>
                </a:solidFill>
                <a:latin typeface="Noto Sans CJK JP"/>
              </a:defRPr>
            </a:pPr>
            <a:r>
              <a:rPr>
                <a:ea typeface="Noto Sans CJK JP"/>
              </a:rPr>
              <a:t>1957 — 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246888"/>
            <a:ext cx="2743200" cy="10972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6400" b="1">
                <a:solidFill>
                  <a:srgbClr val="E5C27E"/>
                </a:solidFill>
                <a:latin typeface="Noto Sans CJK JP"/>
              </a:defRPr>
            </a:pPr>
            <a:r>
              <a:rPr>
                <a:ea typeface="Noto Sans CJK JP"/>
              </a:rPr>
              <a:t>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313432"/>
            <a:ext cx="4846320" cy="228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40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共に目指す、</a:t>
            </a:r>
          </a:p>
          <a:p>
            <a:pPr>
              <a:spcAft>
                <a:spcPts val="800"/>
              </a:spcAft>
              <a:defRPr sz="40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100年。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910328"/>
            <a:ext cx="4572000" cy="1005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CBD5E1"/>
                </a:solidFill>
                <a:latin typeface="Noto Sans CJK JP"/>
              </a:defRPr>
            </a:pPr>
            <a:r>
              <a:rPr>
                <a:ea typeface="Noto Sans CJK JP"/>
              </a:rPr>
              <a:t>株式会社ホンヤク出版社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236208"/>
            <a:ext cx="4206240" cy="10972"/>
          </a:xfrm>
          <a:prstGeom prst="rect">
            <a:avLst/>
          </a:prstGeom>
          <a:solidFill>
            <a:srgbClr val="294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391656"/>
            <a:ext cx="4114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CBD5E1"/>
                </a:solidFill>
                <a:latin typeface="Noto Sans CJK JP"/>
              </a:defRPr>
            </a:pPr>
            <a:r>
              <a:rPr>
                <a:ea typeface="Noto Sans CJK JP"/>
              </a:rPr>
              <a:t>未来  /  28</a:t>
            </a:r>
          </a:p>
        </p:txBody>
      </p:sp>
    </p:spTree>
  </p:cSld>
  <p:clrMapOvr>
    <a:masterClrMapping/>
  </p:clrMapOvr>
  <p:transition advClick="0" advTm="15000"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